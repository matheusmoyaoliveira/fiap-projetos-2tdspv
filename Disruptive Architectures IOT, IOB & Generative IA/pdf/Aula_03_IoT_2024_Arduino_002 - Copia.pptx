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57" r:id="rId1"/>
  </p:sldMasterIdLst>
  <p:notesMasterIdLst>
    <p:notesMasterId r:id="rId26"/>
  </p:notesMasterIdLst>
  <p:sldIdLst>
    <p:sldId id="257" r:id="rId2"/>
    <p:sldId id="332" r:id="rId3"/>
    <p:sldId id="290" r:id="rId4"/>
    <p:sldId id="339" r:id="rId5"/>
    <p:sldId id="291" r:id="rId6"/>
    <p:sldId id="292" r:id="rId7"/>
    <p:sldId id="293" r:id="rId8"/>
    <p:sldId id="294" r:id="rId9"/>
    <p:sldId id="298" r:id="rId10"/>
    <p:sldId id="296" r:id="rId11"/>
    <p:sldId id="297" r:id="rId12"/>
    <p:sldId id="329" r:id="rId13"/>
    <p:sldId id="330" r:id="rId14"/>
    <p:sldId id="331" r:id="rId15"/>
    <p:sldId id="334" r:id="rId16"/>
    <p:sldId id="340" r:id="rId17"/>
    <p:sldId id="341" r:id="rId18"/>
    <p:sldId id="335" r:id="rId19"/>
    <p:sldId id="342" r:id="rId20"/>
    <p:sldId id="336" r:id="rId21"/>
    <p:sldId id="343" r:id="rId22"/>
    <p:sldId id="344" r:id="rId23"/>
    <p:sldId id="337" r:id="rId24"/>
    <p:sldId id="333" r:id="rId25"/>
  </p:sldIdLst>
  <p:sldSz cx="9144000" cy="6858000" type="screen4x3"/>
  <p:notesSz cx="9144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902" autoAdjust="0"/>
  </p:normalViewPr>
  <p:slideViewPr>
    <p:cSldViewPr>
      <p:cViewPr varScale="1">
        <p:scale>
          <a:sx n="78" d="100"/>
          <a:sy n="78" d="100"/>
        </p:scale>
        <p:origin x="159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badi" panose="020B060402010402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badi" panose="020B0604020104020204" pitchFamily="34" charset="0"/>
              </a:defRPr>
            </a:lvl1pPr>
          </a:lstStyle>
          <a:p>
            <a:fld id="{129CE8EA-6EAD-4839-A648-BB8C02D98DFB}" type="datetimeFigureOut">
              <a:rPr lang="pt-BR" smtClean="0"/>
              <a:pPr/>
              <a:t>11/03/2025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badi" panose="020B060402010402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badi" panose="020B0604020104020204" pitchFamily="34" charset="0"/>
              </a:defRPr>
            </a:lvl1pPr>
          </a:lstStyle>
          <a:p>
            <a:fld id="{B6D1D7B6-F279-4C0E-96AE-3FA1880F5E69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43406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badi" panose="020B0604020104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badi" panose="020B0604020104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badi" panose="020B0604020104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badi" panose="020B0604020104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badi" panose="020B06040201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81A782-F3AA-AD5A-CCD3-799E623AE1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2A5779-1545-5080-BFA6-BE5347F33B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CA51C6-3443-2509-710B-D985411A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9624C5-875F-FBFE-17F1-59DC55F5A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CCE89E-4E69-A4B3-1825-33E4E3574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80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3FCD09-37A2-B85B-3D1A-CABF3FE40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609431-3091-9978-08A5-2B69073B6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D064E2-5AF4-D33E-B58C-159242264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F35B73-A797-146A-691A-0145BFC00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036D17-662F-6F82-FFF5-11D9AB77B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2522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1E3450-B61B-0060-FC6A-EB46FD5B0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EFD630-E8F6-5C50-0D99-410A9D544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072BC9-DFED-33F9-B085-4AA9CDBE4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6C9F97-808E-28D8-31A2-04183F783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E4620E-EEF1-211A-424F-3EC3AE0AF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175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D7DE7-37CB-955C-88A4-41D589A8D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1BF7EA-CE87-5ACB-691D-4A7D9DFFEF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3AD1B21-35C2-107E-F442-AA6D7D200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EC91FF5-ED61-6E54-F550-264F1EE66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EB1A2CD-6695-AA14-6978-C4467B2A6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715FC7-97A6-D1D3-A555-1D4553B2F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6991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EAA9D-F6C4-FA93-C349-5BCDA40A1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872F5B-2466-025E-D0B2-EC97AB5D6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7721A4F-81ED-588E-69B0-5C980E616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0A76153-6E90-4A7D-EC7B-CD6D724D00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7D35BA1-E321-F53F-DDBE-B414991161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A223DC7-6097-7B37-C2F3-83FB21FB0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A99AAC2-FEF1-3054-196B-6629076C4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6952F2D-BB23-ED31-2F9D-D3418F27C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1651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783EEF-A7A0-F94E-9339-C4DA312C8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97857CB-8252-7899-18F8-96E76290B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A3FE644-EEF6-D199-8E11-D8B4CAA2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AFAF15-32C3-F9E2-9F5C-D828FD70A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156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FF0024A-4BD4-DC43-2C7C-72BC2AA76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8457DFE-C731-5C3C-F941-93B2AD349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B48D442-521F-EA1A-98DC-5E00CBD72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5275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E660FE-7136-C28D-4C43-6EDB9CD75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8915F5-9D24-A5BE-5E54-73827750C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B7D1BA3-B45B-6D68-570B-008C775B2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136ECE1-373F-D432-469E-2D1689757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0B4665-13FC-AEFE-3B40-93312643C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43F5E5B-1AEB-A545-1C66-1F346C98D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5918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1DF3D3-0451-B66D-6DDE-DB55E792F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7CB7513-0FF4-6FB5-261D-9871603FDB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EEE7022-52E2-7141-24F9-DBD609D63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8A8A647-A981-123C-1731-6C973047D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94746F6-CF38-AE0F-AB57-C9846B806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3EAB6C-0A33-BFEF-F3C9-C70FC7C43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6904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406D87-2F03-29B0-2CCB-7DDDCEFF6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1016FE7-FAAE-885F-AC23-B6073D4E3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CB4D87-9631-FD52-019F-AE41D3C18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E6168B-192E-E892-A8B4-092B6B067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B57C9B-9AFD-79B8-AB0F-6E899B5DC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8050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58A456D-A07E-875F-96CF-05D38DA10C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DA1DAA9-A1A5-2092-8E4D-7323E0160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D68572-E38D-F312-ACC6-D5706658D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FF8FE7-06B7-CB97-008F-C227BA125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2FDD43-D129-1708-24C0-A9D36554F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3348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3C97C46-F14B-B291-336F-AEFE47C5A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B6E859-FBE1-89B1-13C3-CBB102E86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0CE3B3-AB25-3A5B-6ABC-99E305C5FB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  <a:latin typeface="Abadi" panose="020B060402010402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3/11/2025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F6B625-6C2C-DE63-33A4-FCA1A7A0A8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  <a:latin typeface="Abadi" panose="020B060402010402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7F6DD7-C874-CA17-4FCF-C1D560D641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  <a:latin typeface="Abadi" panose="020B0604020104020204" pitchFamily="34" charset="0"/>
              </a:defRPr>
            </a:lvl1pPr>
          </a:lstStyle>
          <a:p>
            <a:fld id="{B6F15528-21DE-4FAA-801E-634DDDAF4B2B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456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Abadi" panose="020B060402010402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profandre.farias@fiap.com.br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nkercad.com/things/g0DpImSLFtU-exercicio-2-divisaomult-soma" TargetMode="External"/><Relationship Id="rId2" Type="http://schemas.openxmlformats.org/officeDocument/2006/relationships/hyperlink" Target="https://www.tinkercad.com/things/hhQ1bzOhHUS/editel?returnTo=%2Fdashboar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inkercad.com/things/5p9f640IbyA/editel" TargetMode="External"/><Relationship Id="rId5" Type="http://schemas.openxmlformats.org/officeDocument/2006/relationships/hyperlink" Target="https://www.tinkercad.com/things/hiVZmZQsA17/editel" TargetMode="External"/><Relationship Id="rId4" Type="http://schemas.openxmlformats.org/officeDocument/2006/relationships/hyperlink" Target="https://www.tinkercad.com/things/8E0pDVG5NQr-exercicio-3-par-impar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tinkercad.com/things/1BlbE82FQh0-analogico-basico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www.tinkercad.com/things/3Dkk6md65P0/editel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" y="-1"/>
            <a:ext cx="9142730" cy="6858000"/>
            <a:chOff x="1524" y="-1"/>
            <a:chExt cx="914273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" y="-1"/>
              <a:ext cx="9142476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059" y="2790444"/>
              <a:ext cx="3564636" cy="6918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80731" y="117347"/>
              <a:ext cx="1571244" cy="79247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003294" y="2674721"/>
            <a:ext cx="38773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</a:rPr>
              <a:t>DISRUPTIVE</a:t>
            </a:r>
            <a:r>
              <a:rPr sz="2000" spc="-95" dirty="0">
                <a:solidFill>
                  <a:srgbClr val="FFFFFF"/>
                </a:solidFill>
              </a:rPr>
              <a:t> </a:t>
            </a:r>
            <a:r>
              <a:rPr sz="2000" spc="-10" dirty="0">
                <a:solidFill>
                  <a:srgbClr val="FFFFFF"/>
                </a:solidFill>
              </a:rPr>
              <a:t>ARCHITECTURES: </a:t>
            </a:r>
            <a:r>
              <a:rPr sz="2000" spc="-50" dirty="0">
                <a:solidFill>
                  <a:srgbClr val="FFFFFF"/>
                </a:solidFill>
              </a:rPr>
              <a:t>IOT,</a:t>
            </a:r>
            <a:r>
              <a:rPr sz="2000" spc="-45" dirty="0">
                <a:solidFill>
                  <a:srgbClr val="FFFFFF"/>
                </a:solidFill>
              </a:rPr>
              <a:t> </a:t>
            </a:r>
            <a:r>
              <a:rPr sz="2000" dirty="0">
                <a:solidFill>
                  <a:srgbClr val="FFFFFF"/>
                </a:solidFill>
              </a:rPr>
              <a:t>IOB</a:t>
            </a:r>
            <a:r>
              <a:rPr sz="2000" spc="-25" dirty="0">
                <a:solidFill>
                  <a:srgbClr val="FFFFFF"/>
                </a:solidFill>
              </a:rPr>
              <a:t> </a:t>
            </a:r>
            <a:r>
              <a:rPr sz="2000" dirty="0">
                <a:solidFill>
                  <a:srgbClr val="FFFFFF"/>
                </a:solidFill>
              </a:rPr>
              <a:t>E</a:t>
            </a:r>
            <a:r>
              <a:rPr sz="2000" spc="-20" dirty="0">
                <a:solidFill>
                  <a:srgbClr val="FFFFFF"/>
                </a:solidFill>
              </a:rPr>
              <a:t> GENERATIVE</a:t>
            </a:r>
            <a:r>
              <a:rPr sz="2000" spc="-95" dirty="0">
                <a:solidFill>
                  <a:srgbClr val="FFFFFF"/>
                </a:solidFill>
              </a:rPr>
              <a:t> </a:t>
            </a:r>
            <a:r>
              <a:rPr sz="2000" spc="-35" dirty="0">
                <a:solidFill>
                  <a:srgbClr val="FFFFFF"/>
                </a:solidFill>
              </a:rPr>
              <a:t>AI</a:t>
            </a:r>
            <a:endParaRPr sz="2000"/>
          </a:p>
        </p:txBody>
      </p:sp>
      <p:sp>
        <p:nvSpPr>
          <p:cNvPr id="7" name="object 7"/>
          <p:cNvSpPr txBox="1"/>
          <p:nvPr/>
        </p:nvSpPr>
        <p:spPr>
          <a:xfrm>
            <a:off x="2362200" y="4953001"/>
            <a:ext cx="5334000" cy="121187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2800" b="1" dirty="0">
                <a:solidFill>
                  <a:srgbClr val="D9D9D9"/>
                </a:solidFill>
                <a:latin typeface="Abadi" panose="020B0604020104020204" pitchFamily="34" charset="0"/>
                <a:cs typeface="Arial"/>
              </a:rPr>
              <a:t>Prof.</a:t>
            </a:r>
            <a:r>
              <a:rPr sz="2800" b="1" spc="-55" dirty="0">
                <a:solidFill>
                  <a:srgbClr val="D9D9D9"/>
                </a:solidFill>
                <a:latin typeface="Abadi" panose="020B0604020104020204" pitchFamily="34" charset="0"/>
                <a:cs typeface="Arial"/>
              </a:rPr>
              <a:t> </a:t>
            </a:r>
            <a:r>
              <a:rPr lang="pt-BR" sz="2800" b="1" dirty="0">
                <a:solidFill>
                  <a:srgbClr val="D9D9D9"/>
                </a:solidFill>
                <a:latin typeface="Abadi" panose="020B0604020104020204" pitchFamily="34" charset="0"/>
                <a:cs typeface="Arial"/>
              </a:rPr>
              <a:t> Me. Renan Rodrigues Mendes</a:t>
            </a:r>
            <a:endParaRPr sz="2800" dirty="0">
              <a:latin typeface="Abadi" panose="020B0604020104020204" pitchFamily="34" charset="0"/>
              <a:cs typeface="Arial"/>
            </a:endParaRPr>
          </a:p>
          <a:p>
            <a:pPr marR="5715" algn="r">
              <a:lnSpc>
                <a:spcPct val="100000"/>
              </a:lnSpc>
              <a:spcBef>
                <a:spcPts val="290"/>
              </a:spcBef>
            </a:pPr>
            <a:r>
              <a:rPr lang="pt-BR" sz="2800" spc="-10" dirty="0">
                <a:solidFill>
                  <a:srgbClr val="D9D9D9"/>
                </a:solidFill>
                <a:latin typeface="Abadi" panose="020B0604020104020204" pitchFamily="34" charset="0"/>
                <a:cs typeface="Arial MT"/>
                <a:hlinkClick r:id="rId5"/>
              </a:rPr>
              <a:t>profrenan.mendes@fiap.com.br</a:t>
            </a:r>
            <a:endParaRPr lang="pt-BR" sz="2800" dirty="0">
              <a:latin typeface="Abadi" panose="020B0604020104020204" pitchFamily="34" charset="0"/>
              <a:cs typeface="Arial MT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 dirty="0">
              <a:latin typeface="Abadi" panose="020B0604020104020204" pitchFamily="34" charset="0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F8232C-4B10-53A0-9712-94947F6A2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215CB2-043D-4E1B-955A-C3896C97D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66" y="1143000"/>
            <a:ext cx="7886700" cy="5486400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arenR"/>
            </a:pPr>
            <a:r>
              <a:rPr lang="pt-BR" sz="2000" dirty="0">
                <a:latin typeface="Abadi" panose="020B0604020104020204" pitchFamily="34" charset="0"/>
                <a:hlinkClick r:id="rId2"/>
              </a:rPr>
              <a:t>Familiarize-se com o Arduino IDE e o Monitor Serial, escrevendo um programa simples que imprime "</a:t>
            </a:r>
            <a:r>
              <a:rPr lang="pt-BR" sz="2000" dirty="0" err="1">
                <a:latin typeface="Abadi" panose="020B0604020104020204" pitchFamily="34" charset="0"/>
                <a:hlinkClick r:id="rId2"/>
              </a:rPr>
              <a:t>Hello</a:t>
            </a:r>
            <a:r>
              <a:rPr lang="pt-BR" sz="2000" dirty="0">
                <a:latin typeface="Abadi" panose="020B0604020104020204" pitchFamily="34" charset="0"/>
                <a:hlinkClick r:id="rId2"/>
              </a:rPr>
              <a:t>, World!" no Monitor Serial.</a:t>
            </a:r>
            <a:endParaRPr lang="pt-BR" sz="2000" dirty="0">
              <a:latin typeface="Abadi" panose="020B0604020104020204" pitchFamily="34" charset="0"/>
            </a:endParaRPr>
          </a:p>
          <a:p>
            <a:pPr marL="457200" indent="-457200">
              <a:buFont typeface="+mj-lt"/>
              <a:buAutoNum type="arabicParenR"/>
            </a:pPr>
            <a:endParaRPr lang="pt-BR" sz="800" dirty="0">
              <a:latin typeface="Abadi" panose="020B0604020104020204" pitchFamily="34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pt-BR" sz="2000" dirty="0">
                <a:latin typeface="Abadi" panose="020B0604020104020204" pitchFamily="34" charset="0"/>
                <a:hlinkClick r:id="rId3"/>
              </a:rPr>
              <a:t>Crie um programa que recebe dois números inteiros do Monitor Serial, realiza operações matemáticas básicas (adição, subtração, multiplicação e divisão) e exibe os resultados no Monitor Serial.</a:t>
            </a:r>
            <a:endParaRPr lang="pt-BR" sz="2000" dirty="0">
              <a:latin typeface="Abadi" panose="020B0604020104020204" pitchFamily="34" charset="0"/>
            </a:endParaRPr>
          </a:p>
          <a:p>
            <a:pPr marL="457200" indent="-457200">
              <a:buFont typeface="+mj-lt"/>
              <a:buAutoNum type="arabicParenR"/>
            </a:pPr>
            <a:endParaRPr lang="pt-BR" sz="800" dirty="0">
              <a:latin typeface="Abadi" panose="020B0604020104020204" pitchFamily="34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pt-BR" sz="2000" b="0" i="0" dirty="0">
                <a:effectLst/>
                <a:latin typeface="Abadi" panose="020B0604020104020204" pitchFamily="34" charset="0"/>
                <a:hlinkClick r:id="rId4"/>
              </a:rPr>
              <a:t>Escreva um programa que receba um número inteiro do Monitor Serial e, usando estruturas de controle, verifique se o número é par ou ímpar, positivo ou negativo e imprima o resultado no Monitor Serial.</a:t>
            </a:r>
            <a:endParaRPr lang="pt-BR" sz="2000" b="0" i="0" dirty="0">
              <a:effectLst/>
              <a:latin typeface="Abadi" panose="020B0604020104020204" pitchFamily="34" charset="0"/>
            </a:endParaRPr>
          </a:p>
          <a:p>
            <a:pPr marL="457200" indent="-457200">
              <a:buFont typeface="+mj-lt"/>
              <a:buAutoNum type="arabicParenR"/>
            </a:pPr>
            <a:endParaRPr lang="pt-BR" sz="800" b="0" i="0" dirty="0">
              <a:effectLst/>
              <a:latin typeface="Abadi" panose="020B0604020104020204" pitchFamily="34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pt-BR" sz="2000" dirty="0">
                <a:latin typeface="Abadi" panose="020B0604020104020204" pitchFamily="34" charset="0"/>
                <a:hlinkClick r:id="rId5"/>
              </a:rPr>
              <a:t>Utilizando um laço for(), faça dois LEDs piscarem simultaneamente 6 vezes, na inicialização.</a:t>
            </a:r>
            <a:endParaRPr lang="pt-BR" sz="2000" dirty="0">
              <a:latin typeface="Abadi" panose="020B0604020104020204" pitchFamily="34" charset="0"/>
            </a:endParaRPr>
          </a:p>
          <a:p>
            <a:pPr marL="457200" indent="-457200">
              <a:buFont typeface="+mj-lt"/>
              <a:buAutoNum type="arabicParenR"/>
            </a:pPr>
            <a:endParaRPr lang="pt-BR" sz="900" dirty="0">
              <a:latin typeface="Abadi" panose="020B0604020104020204" pitchFamily="34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pt-BR" sz="2000" dirty="0">
                <a:latin typeface="Abadi" panose="020B0604020104020204" pitchFamily="34" charset="0"/>
                <a:hlinkClick r:id="rId6"/>
              </a:rPr>
              <a:t>Crie um programa que receba um comando representado pelas letras 'F' ou ‘T’ via serial. O sistema deve interpretar esse comando e acionar LEDs de acordo com as seguintes regras: Se o comando recebido for 'F', os LEDs 1 e 3 devem acender. Se o comando recebido for 'T', os LEDs 2 e 4 devem acender.</a:t>
            </a:r>
            <a:endParaRPr lang="pt-BR" sz="20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433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55726" y="1564335"/>
            <a:ext cx="590550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8605" algn="l"/>
              </a:tabLst>
            </a:pPr>
            <a:r>
              <a:rPr sz="1800" spc="-50" dirty="0">
                <a:solidFill>
                  <a:srgbClr val="2CA0BD"/>
                </a:solidFill>
                <a:cs typeface="Cambria Math"/>
              </a:rPr>
              <a:t>⦁</a:t>
            </a:r>
            <a:r>
              <a:rPr sz="1800" dirty="0">
                <a:solidFill>
                  <a:srgbClr val="2CA0BD"/>
                </a:solidFill>
                <a:cs typeface="Cambria Math"/>
              </a:rPr>
              <a:t>	</a:t>
            </a:r>
            <a:r>
              <a:rPr sz="2700" dirty="0"/>
              <a:t>Verificando</a:t>
            </a:r>
            <a:r>
              <a:rPr sz="2700" spc="-85" dirty="0"/>
              <a:t> </a:t>
            </a:r>
            <a:r>
              <a:rPr sz="2700" dirty="0"/>
              <a:t>o</a:t>
            </a:r>
            <a:r>
              <a:rPr sz="2700" spc="-40" dirty="0"/>
              <a:t> </a:t>
            </a:r>
            <a:r>
              <a:rPr sz="2700" dirty="0"/>
              <a:t>estado</a:t>
            </a:r>
            <a:r>
              <a:rPr sz="2700" spc="-65" dirty="0"/>
              <a:t> </a:t>
            </a:r>
            <a:r>
              <a:rPr sz="2700" dirty="0"/>
              <a:t>de</a:t>
            </a:r>
            <a:r>
              <a:rPr sz="2700" spc="-65" dirty="0"/>
              <a:t> </a:t>
            </a:r>
            <a:r>
              <a:rPr sz="2700" dirty="0"/>
              <a:t>um</a:t>
            </a:r>
            <a:r>
              <a:rPr sz="2700" spc="-50" dirty="0"/>
              <a:t> </a:t>
            </a:r>
            <a:r>
              <a:rPr sz="2700" spc="-10" dirty="0"/>
              <a:t>botão</a:t>
            </a:r>
            <a:endParaRPr sz="2700" dirty="0"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200" y="2378710"/>
            <a:ext cx="8305800" cy="302762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5"/>
              </a:spcBef>
              <a:buClr>
                <a:srgbClr val="2CA0BD"/>
              </a:buClr>
              <a:buFont typeface="Verdana"/>
              <a:buChar char="◦"/>
              <a:tabLst>
                <a:tab pos="241300" algn="l"/>
              </a:tabLst>
            </a:pPr>
            <a:r>
              <a:rPr sz="2300" dirty="0">
                <a:latin typeface="Abadi" panose="020B0604020104020204" pitchFamily="34" charset="0"/>
                <a:cs typeface="Lucida Sans Unicode"/>
              </a:rPr>
              <a:t>Para</a:t>
            </a:r>
            <a:r>
              <a:rPr sz="2300" spc="-50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verificar</a:t>
            </a:r>
            <a:r>
              <a:rPr sz="2300" spc="-110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se</a:t>
            </a:r>
            <a:r>
              <a:rPr sz="2300" spc="-3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um</a:t>
            </a:r>
            <a:r>
              <a:rPr sz="2300" spc="-5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botão</a:t>
            </a:r>
            <a:r>
              <a:rPr sz="2300" spc="-80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está</a:t>
            </a:r>
            <a:r>
              <a:rPr sz="2300" spc="-3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spc="-10" dirty="0">
                <a:solidFill>
                  <a:srgbClr val="FF0000"/>
                </a:solidFill>
                <a:latin typeface="Abadi" panose="020B0604020104020204" pitchFamily="34" charset="0"/>
                <a:cs typeface="Lucida Sans Unicode"/>
              </a:rPr>
              <a:t>pressionado </a:t>
            </a:r>
            <a:r>
              <a:rPr sz="2300" dirty="0">
                <a:solidFill>
                  <a:srgbClr val="FF0000"/>
                </a:solidFill>
                <a:latin typeface="Abadi" panose="020B0604020104020204" pitchFamily="34" charset="0"/>
                <a:cs typeface="Lucida Sans Unicode"/>
              </a:rPr>
              <a:t>ou</a:t>
            </a:r>
            <a:r>
              <a:rPr sz="2300" spc="-40" dirty="0">
                <a:solidFill>
                  <a:srgbClr val="FF0000"/>
                </a:solidFill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solidFill>
                  <a:srgbClr val="FF0000"/>
                </a:solidFill>
                <a:latin typeface="Abadi" panose="020B0604020104020204" pitchFamily="34" charset="0"/>
                <a:cs typeface="Lucida Sans Unicode"/>
              </a:rPr>
              <a:t>não</a:t>
            </a:r>
            <a:r>
              <a:rPr sz="2300" spc="-40" dirty="0">
                <a:solidFill>
                  <a:srgbClr val="FF0000"/>
                </a:solidFill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basta</a:t>
            </a:r>
            <a:r>
              <a:rPr sz="2300" spc="-2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spc="-20" dirty="0">
                <a:latin typeface="Abadi" panose="020B0604020104020204" pitchFamily="34" charset="0"/>
                <a:cs typeface="Lucida Sans Unicode"/>
              </a:rPr>
              <a:t>conectá-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lo</a:t>
            </a:r>
            <a:r>
              <a:rPr sz="2300" spc="-90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a</a:t>
            </a:r>
            <a:r>
              <a:rPr sz="2300" spc="-1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uma</a:t>
            </a:r>
            <a:r>
              <a:rPr sz="2300" spc="-2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solidFill>
                  <a:srgbClr val="FF0000"/>
                </a:solidFill>
                <a:latin typeface="Abadi" panose="020B0604020104020204" pitchFamily="34" charset="0"/>
                <a:cs typeface="Lucida Sans Unicode"/>
              </a:rPr>
              <a:t>porta</a:t>
            </a:r>
            <a:r>
              <a:rPr sz="2300" spc="-50" dirty="0">
                <a:solidFill>
                  <a:srgbClr val="FF0000"/>
                </a:solidFill>
                <a:latin typeface="Abadi" panose="020B0604020104020204" pitchFamily="34" charset="0"/>
                <a:cs typeface="Lucida Sans Unicode"/>
              </a:rPr>
              <a:t> </a:t>
            </a:r>
            <a:r>
              <a:rPr sz="2300" spc="-10" dirty="0">
                <a:solidFill>
                  <a:srgbClr val="FF0000"/>
                </a:solidFill>
                <a:latin typeface="Abadi" panose="020B0604020104020204" pitchFamily="34" charset="0"/>
                <a:cs typeface="Lucida Sans Unicode"/>
              </a:rPr>
              <a:t>digital</a:t>
            </a:r>
            <a:r>
              <a:rPr sz="2300" spc="-10" dirty="0">
                <a:latin typeface="Abadi" panose="020B0604020104020204" pitchFamily="34" charset="0"/>
                <a:cs typeface="Lucida Sans Unicode"/>
              </a:rPr>
              <a:t>.</a:t>
            </a:r>
            <a:endParaRPr lang="pt-BR" sz="2300" spc="-10" dirty="0">
              <a:latin typeface="Abadi" panose="020B0604020104020204" pitchFamily="34" charset="0"/>
              <a:cs typeface="Lucida Sans Unicode"/>
            </a:endParaRPr>
          </a:p>
          <a:p>
            <a:pPr marL="241300" marR="5080" indent="-228600">
              <a:lnSpc>
                <a:spcPct val="100000"/>
              </a:lnSpc>
              <a:spcBef>
                <a:spcPts val="105"/>
              </a:spcBef>
              <a:buClr>
                <a:srgbClr val="2CA0BD"/>
              </a:buClr>
              <a:buFont typeface="Verdana"/>
              <a:buChar char="◦"/>
              <a:tabLst>
                <a:tab pos="241300" algn="l"/>
              </a:tabLst>
            </a:pPr>
            <a:endParaRPr sz="2300" dirty="0">
              <a:latin typeface="Abadi" panose="020B0604020104020204" pitchFamily="34" charset="0"/>
              <a:cs typeface="Lucida Sans Unicode"/>
            </a:endParaRPr>
          </a:p>
          <a:p>
            <a:pPr marL="241300" marR="495300" indent="-228600">
              <a:lnSpc>
                <a:spcPct val="101000"/>
              </a:lnSpc>
              <a:spcBef>
                <a:spcPts val="415"/>
              </a:spcBef>
              <a:buClr>
                <a:srgbClr val="2CA0BD"/>
              </a:buClr>
              <a:buFont typeface="Verdana"/>
              <a:buChar char="◦"/>
              <a:tabLst>
                <a:tab pos="241300" algn="l"/>
              </a:tabLst>
            </a:pPr>
            <a:r>
              <a:rPr sz="2300" dirty="0">
                <a:latin typeface="Abadi" panose="020B0604020104020204" pitchFamily="34" charset="0"/>
                <a:cs typeface="Lucida Sans Unicode"/>
              </a:rPr>
              <a:t>Para</a:t>
            </a:r>
            <a:r>
              <a:rPr sz="2300" spc="-30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que</a:t>
            </a:r>
            <a:r>
              <a:rPr sz="2300" spc="-4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um</a:t>
            </a:r>
            <a:r>
              <a:rPr sz="2300" spc="-40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circuito</a:t>
            </a:r>
            <a:r>
              <a:rPr sz="2300" spc="-70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com</a:t>
            </a:r>
            <a:r>
              <a:rPr sz="2300" spc="-60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botão</a:t>
            </a:r>
            <a:r>
              <a:rPr sz="2300" spc="-60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spc="-10" dirty="0">
                <a:latin typeface="Abadi" panose="020B0604020104020204" pitchFamily="34" charset="0"/>
                <a:cs typeface="Lucida Sans Unicode"/>
              </a:rPr>
              <a:t>funcione adequadamente</a:t>
            </a:r>
            <a:r>
              <a:rPr sz="2300" spc="-8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é</a:t>
            </a:r>
            <a:r>
              <a:rPr sz="2300" spc="-2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necessário</a:t>
            </a:r>
            <a:r>
              <a:rPr sz="2300" spc="-50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o</a:t>
            </a:r>
            <a:r>
              <a:rPr sz="2300" spc="-20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uso</a:t>
            </a:r>
            <a:r>
              <a:rPr sz="2300" spc="-6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spc="-25" dirty="0">
                <a:latin typeface="Abadi" panose="020B0604020104020204" pitchFamily="34" charset="0"/>
                <a:cs typeface="Lucida Sans Unicode"/>
              </a:rPr>
              <a:t>de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resistores</a:t>
            </a:r>
            <a:r>
              <a:rPr sz="2300" spc="-5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400" i="1" spc="125" dirty="0">
                <a:solidFill>
                  <a:srgbClr val="FF0000"/>
                </a:solidFill>
                <a:latin typeface="Abadi" panose="020B0604020104020204" pitchFamily="34" charset="0"/>
                <a:cs typeface="Arial"/>
              </a:rPr>
              <a:t>pull-</a:t>
            </a:r>
            <a:r>
              <a:rPr sz="2400" i="1" spc="85" dirty="0">
                <a:solidFill>
                  <a:srgbClr val="FF0000"/>
                </a:solidFill>
                <a:latin typeface="Abadi" panose="020B0604020104020204" pitchFamily="34" charset="0"/>
                <a:cs typeface="Arial"/>
              </a:rPr>
              <a:t>down</a:t>
            </a:r>
            <a:r>
              <a:rPr sz="2400" i="1" spc="225" dirty="0">
                <a:solidFill>
                  <a:srgbClr val="FF0000"/>
                </a:solidFill>
                <a:latin typeface="Abadi" panose="020B0604020104020204" pitchFamily="34" charset="0"/>
                <a:cs typeface="Arial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ou</a:t>
            </a:r>
            <a:r>
              <a:rPr sz="2300" spc="-1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400" i="1" spc="140" dirty="0">
                <a:solidFill>
                  <a:srgbClr val="FF0000"/>
                </a:solidFill>
                <a:latin typeface="Abadi" panose="020B0604020104020204" pitchFamily="34" charset="0"/>
                <a:cs typeface="Arial"/>
              </a:rPr>
              <a:t>pull-</a:t>
            </a:r>
            <a:r>
              <a:rPr sz="2400" i="1" spc="65" dirty="0">
                <a:solidFill>
                  <a:srgbClr val="FF0000"/>
                </a:solidFill>
                <a:latin typeface="Abadi" panose="020B0604020104020204" pitchFamily="34" charset="0"/>
                <a:cs typeface="Arial"/>
              </a:rPr>
              <a:t>up</a:t>
            </a:r>
            <a:r>
              <a:rPr sz="2300" spc="65" dirty="0">
                <a:latin typeface="Abadi" panose="020B0604020104020204" pitchFamily="34" charset="0"/>
                <a:cs typeface="Lucida Sans Unicode"/>
              </a:rPr>
              <a:t>.</a:t>
            </a:r>
            <a:endParaRPr lang="pt-BR" sz="2300" spc="65" dirty="0">
              <a:latin typeface="Abadi" panose="020B0604020104020204" pitchFamily="34" charset="0"/>
              <a:cs typeface="Lucida Sans Unicode"/>
            </a:endParaRPr>
          </a:p>
          <a:p>
            <a:pPr marL="241300" marR="495300" indent="-228600">
              <a:lnSpc>
                <a:spcPct val="101000"/>
              </a:lnSpc>
              <a:spcBef>
                <a:spcPts val="415"/>
              </a:spcBef>
              <a:buClr>
                <a:srgbClr val="2CA0BD"/>
              </a:buClr>
              <a:buFont typeface="Verdana"/>
              <a:buChar char="◦"/>
              <a:tabLst>
                <a:tab pos="241300" algn="l"/>
              </a:tabLst>
            </a:pPr>
            <a:endParaRPr sz="2300" dirty="0">
              <a:latin typeface="Abadi" panose="020B0604020104020204" pitchFamily="34" charset="0"/>
              <a:cs typeface="Lucida Sans Unicode"/>
            </a:endParaRPr>
          </a:p>
          <a:p>
            <a:pPr marL="241300" marR="57785" indent="-228600">
              <a:lnSpc>
                <a:spcPct val="99700"/>
              </a:lnSpc>
              <a:spcBef>
                <a:spcPts val="240"/>
              </a:spcBef>
              <a:buClr>
                <a:srgbClr val="2CA0BD"/>
              </a:buClr>
              <a:buFont typeface="Verdana"/>
              <a:buChar char="◦"/>
              <a:tabLst>
                <a:tab pos="241300" algn="l"/>
              </a:tabLst>
            </a:pPr>
            <a:r>
              <a:rPr sz="2300" dirty="0">
                <a:latin typeface="Abadi" panose="020B0604020104020204" pitchFamily="34" charset="0"/>
                <a:cs typeface="Lucida Sans Unicode"/>
              </a:rPr>
              <a:t>Os</a:t>
            </a:r>
            <a:r>
              <a:rPr sz="2300" spc="-3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resistores</a:t>
            </a:r>
            <a:r>
              <a:rPr sz="2300" spc="-70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400" i="1" spc="130" dirty="0">
                <a:latin typeface="Abadi" panose="020B0604020104020204" pitchFamily="34" charset="0"/>
                <a:cs typeface="Arial"/>
              </a:rPr>
              <a:t>pull-</a:t>
            </a:r>
            <a:r>
              <a:rPr sz="2400" i="1" spc="85" dirty="0">
                <a:latin typeface="Abadi" panose="020B0604020104020204" pitchFamily="34" charset="0"/>
                <a:cs typeface="Arial"/>
              </a:rPr>
              <a:t>down</a:t>
            </a:r>
            <a:r>
              <a:rPr sz="2400" i="1" spc="210" dirty="0">
                <a:latin typeface="Abadi" panose="020B0604020104020204" pitchFamily="34" charset="0"/>
                <a:cs typeface="Arial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e</a:t>
            </a:r>
            <a:r>
              <a:rPr sz="2300" spc="-1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400" i="1" spc="155" dirty="0">
                <a:latin typeface="Abadi" panose="020B0604020104020204" pitchFamily="34" charset="0"/>
                <a:cs typeface="Arial"/>
              </a:rPr>
              <a:t>pull-</a:t>
            </a:r>
            <a:r>
              <a:rPr sz="2400" i="1" spc="65" dirty="0">
                <a:latin typeface="Abadi" panose="020B0604020104020204" pitchFamily="34" charset="0"/>
                <a:cs typeface="Arial"/>
              </a:rPr>
              <a:t>up</a:t>
            </a:r>
            <a:r>
              <a:rPr sz="2400" i="1" spc="210" dirty="0">
                <a:latin typeface="Abadi" panose="020B0604020104020204" pitchFamily="34" charset="0"/>
                <a:cs typeface="Arial"/>
              </a:rPr>
              <a:t> </a:t>
            </a:r>
            <a:r>
              <a:rPr sz="2300" spc="-10" dirty="0">
                <a:solidFill>
                  <a:srgbClr val="FF0000"/>
                </a:solidFill>
                <a:latin typeface="Abadi" panose="020B0604020104020204" pitchFamily="34" charset="0"/>
                <a:cs typeface="Lucida Sans Unicode"/>
              </a:rPr>
              <a:t>garantem </a:t>
            </a:r>
            <a:r>
              <a:rPr sz="2300" dirty="0">
                <a:solidFill>
                  <a:srgbClr val="FF0000"/>
                </a:solidFill>
                <a:latin typeface="Abadi" panose="020B0604020104020204" pitchFamily="34" charset="0"/>
                <a:cs typeface="Lucida Sans Unicode"/>
              </a:rPr>
              <a:t>que</a:t>
            </a:r>
            <a:r>
              <a:rPr sz="2300" spc="-45" dirty="0">
                <a:solidFill>
                  <a:srgbClr val="FF0000"/>
                </a:solidFill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solidFill>
                  <a:srgbClr val="FF0000"/>
                </a:solidFill>
                <a:latin typeface="Abadi" panose="020B0604020104020204" pitchFamily="34" charset="0"/>
                <a:cs typeface="Lucida Sans Unicode"/>
              </a:rPr>
              <a:t>os</a:t>
            </a:r>
            <a:r>
              <a:rPr sz="2300" spc="-55" dirty="0">
                <a:solidFill>
                  <a:srgbClr val="FF0000"/>
                </a:solidFill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solidFill>
                  <a:srgbClr val="FF0000"/>
                </a:solidFill>
                <a:latin typeface="Abadi" panose="020B0604020104020204" pitchFamily="34" charset="0"/>
                <a:cs typeface="Lucida Sans Unicode"/>
              </a:rPr>
              <a:t>níveis</a:t>
            </a:r>
            <a:r>
              <a:rPr sz="2300" spc="-75" dirty="0">
                <a:solidFill>
                  <a:srgbClr val="FF0000"/>
                </a:solidFill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solidFill>
                  <a:srgbClr val="FF0000"/>
                </a:solidFill>
                <a:latin typeface="Abadi" panose="020B0604020104020204" pitchFamily="34" charset="0"/>
                <a:cs typeface="Lucida Sans Unicode"/>
              </a:rPr>
              <a:t>lógicos</a:t>
            </a:r>
            <a:r>
              <a:rPr sz="2300" spc="-55" dirty="0">
                <a:solidFill>
                  <a:srgbClr val="FF0000"/>
                </a:solidFill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solidFill>
                  <a:srgbClr val="FF0000"/>
                </a:solidFill>
                <a:latin typeface="Abadi" panose="020B0604020104020204" pitchFamily="34" charset="0"/>
                <a:cs typeface="Lucida Sans Unicode"/>
              </a:rPr>
              <a:t>estarão</a:t>
            </a:r>
            <a:r>
              <a:rPr sz="2300" spc="-65" dirty="0">
                <a:solidFill>
                  <a:srgbClr val="FF0000"/>
                </a:solidFill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solidFill>
                  <a:srgbClr val="FF0000"/>
                </a:solidFill>
                <a:latin typeface="Abadi" panose="020B0604020104020204" pitchFamily="34" charset="0"/>
                <a:cs typeface="Lucida Sans Unicode"/>
              </a:rPr>
              <a:t>próximos</a:t>
            </a:r>
            <a:r>
              <a:rPr sz="2300" spc="-70" dirty="0">
                <a:solidFill>
                  <a:srgbClr val="FF0000"/>
                </a:solidFill>
                <a:latin typeface="Abadi" panose="020B0604020104020204" pitchFamily="34" charset="0"/>
                <a:cs typeface="Lucida Sans Unicode"/>
              </a:rPr>
              <a:t> </a:t>
            </a:r>
            <a:r>
              <a:rPr sz="2300" spc="-25" dirty="0">
                <a:solidFill>
                  <a:srgbClr val="FF0000"/>
                </a:solidFill>
                <a:latin typeface="Abadi" panose="020B0604020104020204" pitchFamily="34" charset="0"/>
                <a:cs typeface="Lucida Sans Unicode"/>
              </a:rPr>
              <a:t>às </a:t>
            </a:r>
            <a:r>
              <a:rPr sz="2300" dirty="0">
                <a:solidFill>
                  <a:srgbClr val="FF0000"/>
                </a:solidFill>
                <a:latin typeface="Abadi" panose="020B0604020104020204" pitchFamily="34" charset="0"/>
                <a:cs typeface="Lucida Sans Unicode"/>
              </a:rPr>
              <a:t>tensões</a:t>
            </a:r>
            <a:r>
              <a:rPr sz="2300" spc="-130" dirty="0">
                <a:solidFill>
                  <a:srgbClr val="FF0000"/>
                </a:solidFill>
                <a:latin typeface="Abadi" panose="020B0604020104020204" pitchFamily="34" charset="0"/>
                <a:cs typeface="Lucida Sans Unicode"/>
              </a:rPr>
              <a:t> </a:t>
            </a:r>
            <a:r>
              <a:rPr sz="2300" spc="-10" dirty="0">
                <a:solidFill>
                  <a:srgbClr val="FF0000"/>
                </a:solidFill>
                <a:latin typeface="Abadi" panose="020B0604020104020204" pitchFamily="34" charset="0"/>
                <a:cs typeface="Lucida Sans Unicode"/>
              </a:rPr>
              <a:t>esperadas</a:t>
            </a:r>
            <a:r>
              <a:rPr sz="2300" spc="-10" dirty="0">
                <a:latin typeface="Abadi" panose="020B0604020104020204" pitchFamily="34" charset="0"/>
                <a:cs typeface="Lucida Sans Unicode"/>
              </a:rPr>
              <a:t>.</a:t>
            </a:r>
            <a:endParaRPr sz="2300" dirty="0">
              <a:latin typeface="Abadi" panose="020B0604020104020204" pitchFamily="34" charset="0"/>
              <a:cs typeface="Lucida Sans Unicode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836" y="702563"/>
            <a:ext cx="6227064" cy="5425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911CE2-8891-4610-AC3B-34DFF37ED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26" name="Picture 2" descr="O que são resistores de pull-up e pull-down? - Clube do Maker">
            <a:extLst>
              <a:ext uri="{FF2B5EF4-FFF2-40B4-BE49-F238E27FC236}">
                <a16:creationId xmlns:a16="http://schemas.microsoft.com/office/drawing/2014/main" id="{5F087572-DBAF-4D2D-AC7B-A2E85831518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286794"/>
            <a:ext cx="609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066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202179"/>
            <a:ext cx="7524115" cy="4655820"/>
            <a:chOff x="0" y="2202179"/>
            <a:chExt cx="7524115" cy="46558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0531" y="2202179"/>
              <a:ext cx="5553456" cy="39624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23616" y="3544823"/>
              <a:ext cx="559435" cy="416559"/>
            </a:xfrm>
            <a:custGeom>
              <a:avLst/>
              <a:gdLst/>
              <a:ahLst/>
              <a:cxnLst/>
              <a:rect l="l" t="t" r="r" b="b"/>
              <a:pathLst>
                <a:path w="559435" h="416560">
                  <a:moveTo>
                    <a:pt x="515239" y="208661"/>
                  </a:moveTo>
                  <a:lnTo>
                    <a:pt x="515112" y="201041"/>
                  </a:lnTo>
                  <a:lnTo>
                    <a:pt x="505714" y="161544"/>
                  </a:lnTo>
                  <a:lnTo>
                    <a:pt x="504317" y="159435"/>
                  </a:lnTo>
                  <a:lnTo>
                    <a:pt x="504317" y="208661"/>
                  </a:lnTo>
                  <a:lnTo>
                    <a:pt x="504063" y="216281"/>
                  </a:lnTo>
                  <a:lnTo>
                    <a:pt x="487553" y="265938"/>
                  </a:lnTo>
                  <a:lnTo>
                    <a:pt x="455168" y="302768"/>
                  </a:lnTo>
                  <a:lnTo>
                    <a:pt x="407670" y="333375"/>
                  </a:lnTo>
                  <a:lnTo>
                    <a:pt x="368808" y="348615"/>
                  </a:lnTo>
                  <a:lnTo>
                    <a:pt x="325374" y="358775"/>
                  </a:lnTo>
                  <a:lnTo>
                    <a:pt x="302387" y="361315"/>
                  </a:lnTo>
                  <a:lnTo>
                    <a:pt x="254876" y="361315"/>
                  </a:lnTo>
                  <a:lnTo>
                    <a:pt x="188468" y="348615"/>
                  </a:lnTo>
                  <a:lnTo>
                    <a:pt x="149606" y="333375"/>
                  </a:lnTo>
                  <a:lnTo>
                    <a:pt x="116332" y="313055"/>
                  </a:lnTo>
                  <a:lnTo>
                    <a:pt x="78867" y="276098"/>
                  </a:lnTo>
                  <a:lnTo>
                    <a:pt x="58801" y="236601"/>
                  </a:lnTo>
                  <a:lnTo>
                    <a:pt x="54864" y="207391"/>
                  </a:lnTo>
                  <a:lnTo>
                    <a:pt x="55118" y="199771"/>
                  </a:lnTo>
                  <a:lnTo>
                    <a:pt x="71628" y="150114"/>
                  </a:lnTo>
                  <a:lnTo>
                    <a:pt x="104013" y="113284"/>
                  </a:lnTo>
                  <a:lnTo>
                    <a:pt x="151638" y="82677"/>
                  </a:lnTo>
                  <a:lnTo>
                    <a:pt x="190373" y="67437"/>
                  </a:lnTo>
                  <a:lnTo>
                    <a:pt x="233807" y="58559"/>
                  </a:lnTo>
                  <a:lnTo>
                    <a:pt x="280543" y="54737"/>
                  </a:lnTo>
                  <a:lnTo>
                    <a:pt x="304292" y="56007"/>
                  </a:lnTo>
                  <a:lnTo>
                    <a:pt x="370713" y="68707"/>
                  </a:lnTo>
                  <a:lnTo>
                    <a:pt x="409702" y="83947"/>
                  </a:lnTo>
                  <a:lnTo>
                    <a:pt x="442976" y="102997"/>
                  </a:lnTo>
                  <a:lnTo>
                    <a:pt x="480441" y="139954"/>
                  </a:lnTo>
                  <a:lnTo>
                    <a:pt x="500380" y="180721"/>
                  </a:lnTo>
                  <a:lnTo>
                    <a:pt x="504317" y="208661"/>
                  </a:lnTo>
                  <a:lnTo>
                    <a:pt x="504317" y="159435"/>
                  </a:lnTo>
                  <a:lnTo>
                    <a:pt x="477266" y="118364"/>
                  </a:lnTo>
                  <a:lnTo>
                    <a:pt x="432308" y="82677"/>
                  </a:lnTo>
                  <a:lnTo>
                    <a:pt x="394335" y="64897"/>
                  </a:lnTo>
                  <a:lnTo>
                    <a:pt x="328549" y="47117"/>
                  </a:lnTo>
                  <a:lnTo>
                    <a:pt x="280162" y="43307"/>
                  </a:lnTo>
                  <a:lnTo>
                    <a:pt x="231762" y="47117"/>
                  </a:lnTo>
                  <a:lnTo>
                    <a:pt x="186817" y="57277"/>
                  </a:lnTo>
                  <a:lnTo>
                    <a:pt x="146431" y="72517"/>
                  </a:lnTo>
                  <a:lnTo>
                    <a:pt x="111506" y="92837"/>
                  </a:lnTo>
                  <a:lnTo>
                    <a:pt x="83058" y="118364"/>
                  </a:lnTo>
                  <a:lnTo>
                    <a:pt x="54102" y="160274"/>
                  </a:lnTo>
                  <a:lnTo>
                    <a:pt x="44196" y="199771"/>
                  </a:lnTo>
                  <a:lnTo>
                    <a:pt x="43942" y="207391"/>
                  </a:lnTo>
                  <a:lnTo>
                    <a:pt x="44069" y="216281"/>
                  </a:lnTo>
                  <a:lnTo>
                    <a:pt x="53467" y="254508"/>
                  </a:lnTo>
                  <a:lnTo>
                    <a:pt x="81788" y="297688"/>
                  </a:lnTo>
                  <a:lnTo>
                    <a:pt x="127000" y="333375"/>
                  </a:lnTo>
                  <a:lnTo>
                    <a:pt x="164846" y="352425"/>
                  </a:lnTo>
                  <a:lnTo>
                    <a:pt x="207645" y="365125"/>
                  </a:lnTo>
                  <a:lnTo>
                    <a:pt x="254508" y="371475"/>
                  </a:lnTo>
                  <a:lnTo>
                    <a:pt x="278892" y="372745"/>
                  </a:lnTo>
                  <a:lnTo>
                    <a:pt x="303657" y="371475"/>
                  </a:lnTo>
                  <a:lnTo>
                    <a:pt x="350266" y="365125"/>
                  </a:lnTo>
                  <a:lnTo>
                    <a:pt x="412877" y="343535"/>
                  </a:lnTo>
                  <a:lnTo>
                    <a:pt x="447675" y="323215"/>
                  </a:lnTo>
                  <a:lnTo>
                    <a:pt x="487680" y="284988"/>
                  </a:lnTo>
                  <a:lnTo>
                    <a:pt x="508127" y="248158"/>
                  </a:lnTo>
                  <a:lnTo>
                    <a:pt x="515239" y="208661"/>
                  </a:lnTo>
                  <a:close/>
                </a:path>
                <a:path w="559435" h="416560">
                  <a:moveTo>
                    <a:pt x="559181" y="207391"/>
                  </a:moveTo>
                  <a:lnTo>
                    <a:pt x="558673" y="195961"/>
                  </a:lnTo>
                  <a:lnTo>
                    <a:pt x="549275" y="152654"/>
                  </a:lnTo>
                  <a:lnTo>
                    <a:pt x="526288" y="111544"/>
                  </a:lnTo>
                  <a:lnTo>
                    <a:pt x="526288" y="208661"/>
                  </a:lnTo>
                  <a:lnTo>
                    <a:pt x="526034" y="217551"/>
                  </a:lnTo>
                  <a:lnTo>
                    <a:pt x="515366" y="259588"/>
                  </a:lnTo>
                  <a:lnTo>
                    <a:pt x="484505" y="305308"/>
                  </a:lnTo>
                  <a:lnTo>
                    <a:pt x="454533" y="332105"/>
                  </a:lnTo>
                  <a:lnTo>
                    <a:pt x="417957" y="353695"/>
                  </a:lnTo>
                  <a:lnTo>
                    <a:pt x="375920" y="370205"/>
                  </a:lnTo>
                  <a:lnTo>
                    <a:pt x="329438" y="380365"/>
                  </a:lnTo>
                  <a:lnTo>
                    <a:pt x="279273" y="384302"/>
                  </a:lnTo>
                  <a:lnTo>
                    <a:pt x="253987" y="383032"/>
                  </a:lnTo>
                  <a:lnTo>
                    <a:pt x="182880" y="370205"/>
                  </a:lnTo>
                  <a:lnTo>
                    <a:pt x="140843" y="353695"/>
                  </a:lnTo>
                  <a:lnTo>
                    <a:pt x="104394" y="332105"/>
                  </a:lnTo>
                  <a:lnTo>
                    <a:pt x="74295" y="305308"/>
                  </a:lnTo>
                  <a:lnTo>
                    <a:pt x="43688" y="259588"/>
                  </a:lnTo>
                  <a:lnTo>
                    <a:pt x="33147" y="217551"/>
                  </a:lnTo>
                  <a:lnTo>
                    <a:pt x="32893" y="208661"/>
                  </a:lnTo>
                  <a:lnTo>
                    <a:pt x="33147" y="199771"/>
                  </a:lnTo>
                  <a:lnTo>
                    <a:pt x="43815" y="156464"/>
                  </a:lnTo>
                  <a:lnTo>
                    <a:pt x="74676" y="110744"/>
                  </a:lnTo>
                  <a:lnTo>
                    <a:pt x="104775" y="85217"/>
                  </a:lnTo>
                  <a:lnTo>
                    <a:pt x="141224" y="63627"/>
                  </a:lnTo>
                  <a:lnTo>
                    <a:pt x="183261" y="47117"/>
                  </a:lnTo>
                  <a:lnTo>
                    <a:pt x="254381" y="33032"/>
                  </a:lnTo>
                  <a:lnTo>
                    <a:pt x="279781" y="33032"/>
                  </a:lnTo>
                  <a:lnTo>
                    <a:pt x="329819" y="36957"/>
                  </a:lnTo>
                  <a:lnTo>
                    <a:pt x="376301" y="47117"/>
                  </a:lnTo>
                  <a:lnTo>
                    <a:pt x="418465" y="63627"/>
                  </a:lnTo>
                  <a:lnTo>
                    <a:pt x="454914" y="85217"/>
                  </a:lnTo>
                  <a:lnTo>
                    <a:pt x="484886" y="110744"/>
                  </a:lnTo>
                  <a:lnTo>
                    <a:pt x="515493" y="156464"/>
                  </a:lnTo>
                  <a:lnTo>
                    <a:pt x="526034" y="199771"/>
                  </a:lnTo>
                  <a:lnTo>
                    <a:pt x="526288" y="208661"/>
                  </a:lnTo>
                  <a:lnTo>
                    <a:pt x="526288" y="111544"/>
                  </a:lnTo>
                  <a:lnTo>
                    <a:pt x="491236" y="71247"/>
                  </a:lnTo>
                  <a:lnTo>
                    <a:pt x="453009" y="44577"/>
                  </a:lnTo>
                  <a:lnTo>
                    <a:pt x="408686" y="22872"/>
                  </a:lnTo>
                  <a:lnTo>
                    <a:pt x="359410" y="8890"/>
                  </a:lnTo>
                  <a:lnTo>
                    <a:pt x="306324" y="1282"/>
                  </a:lnTo>
                  <a:lnTo>
                    <a:pt x="278511" y="0"/>
                  </a:lnTo>
                  <a:lnTo>
                    <a:pt x="223774" y="3822"/>
                  </a:lnTo>
                  <a:lnTo>
                    <a:pt x="172466" y="15240"/>
                  </a:lnTo>
                  <a:lnTo>
                    <a:pt x="125730" y="34290"/>
                  </a:lnTo>
                  <a:lnTo>
                    <a:pt x="84328" y="58559"/>
                  </a:lnTo>
                  <a:lnTo>
                    <a:pt x="49530" y="89027"/>
                  </a:lnTo>
                  <a:lnTo>
                    <a:pt x="22860" y="124714"/>
                  </a:lnTo>
                  <a:lnTo>
                    <a:pt x="5969" y="165354"/>
                  </a:lnTo>
                  <a:lnTo>
                    <a:pt x="0" y="208661"/>
                  </a:lnTo>
                  <a:lnTo>
                    <a:pt x="508" y="220091"/>
                  </a:lnTo>
                  <a:lnTo>
                    <a:pt x="9906" y="263398"/>
                  </a:lnTo>
                  <a:lnTo>
                    <a:pt x="36957" y="313055"/>
                  </a:lnTo>
                  <a:lnTo>
                    <a:pt x="68072" y="344805"/>
                  </a:lnTo>
                  <a:lnTo>
                    <a:pt x="106299" y="371475"/>
                  </a:lnTo>
                  <a:lnTo>
                    <a:pt x="150495" y="393192"/>
                  </a:lnTo>
                  <a:lnTo>
                    <a:pt x="199644" y="408432"/>
                  </a:lnTo>
                  <a:lnTo>
                    <a:pt x="252857" y="416052"/>
                  </a:lnTo>
                  <a:lnTo>
                    <a:pt x="308229" y="416052"/>
                  </a:lnTo>
                  <a:lnTo>
                    <a:pt x="361442" y="407162"/>
                  </a:lnTo>
                  <a:lnTo>
                    <a:pt x="410591" y="391922"/>
                  </a:lnTo>
                  <a:lnTo>
                    <a:pt x="474980" y="357505"/>
                  </a:lnTo>
                  <a:lnTo>
                    <a:pt x="509651" y="327025"/>
                  </a:lnTo>
                  <a:lnTo>
                    <a:pt x="536321" y="291338"/>
                  </a:lnTo>
                  <a:lnTo>
                    <a:pt x="553212" y="251968"/>
                  </a:lnTo>
                  <a:lnTo>
                    <a:pt x="559181" y="207391"/>
                  </a:lnTo>
                  <a:close/>
                </a:path>
              </a:pathLst>
            </a:custGeom>
            <a:solidFill>
              <a:srgbClr val="DA1F28"/>
            </a:solidFill>
          </p:spPr>
          <p:txBody>
            <a:bodyPr wrap="square" lIns="0" tIns="0" rIns="0" bIns="0" rtlCol="0"/>
            <a:lstStyle/>
            <a:p>
              <a:endParaRPr dirty="0">
                <a:latin typeface="Abadi" panose="020B0604020104020204" pitchFamily="34" charset="0"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220" y="2689859"/>
              <a:ext cx="1411224" cy="97840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5131" y="2709671"/>
              <a:ext cx="1295400" cy="86258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75131" y="2709672"/>
            <a:ext cx="1295400" cy="746358"/>
          </a:xfrm>
          <a:prstGeom prst="rect">
            <a:avLst/>
          </a:prstGeom>
          <a:ln w="9144">
            <a:solidFill>
              <a:srgbClr val="EB621B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142875" marR="129539" indent="3810" algn="ctr">
              <a:lnSpc>
                <a:spcPct val="100000"/>
              </a:lnSpc>
              <a:spcBef>
                <a:spcPts val="60"/>
              </a:spcBef>
            </a:pPr>
            <a:r>
              <a:rPr sz="1600" spc="-10" dirty="0">
                <a:latin typeface="Abadi" panose="020B0604020104020204" pitchFamily="34" charset="0"/>
                <a:cs typeface="Lucida Sans Unicode"/>
              </a:rPr>
              <a:t>Resistor </a:t>
            </a:r>
            <a:r>
              <a:rPr sz="1600" spc="-20" dirty="0">
                <a:latin typeface="Abadi" panose="020B0604020104020204" pitchFamily="34" charset="0"/>
                <a:cs typeface="Lucida Sans Unicode"/>
              </a:rPr>
              <a:t>pull-down </a:t>
            </a:r>
            <a:r>
              <a:rPr sz="1600" spc="-20" dirty="0">
                <a:solidFill>
                  <a:srgbClr val="FF0000"/>
                </a:solidFill>
                <a:latin typeface="Abadi" panose="020B0604020104020204" pitchFamily="34" charset="0"/>
                <a:cs typeface="Lucida Sans Unicode"/>
              </a:rPr>
              <a:t>10kΩ</a:t>
            </a:r>
            <a:endParaRPr sz="1600" dirty="0">
              <a:latin typeface="Abadi" panose="020B0604020104020204" pitchFamily="34" charset="0"/>
              <a:cs typeface="Lucida Sans Unicode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645363" y="1176230"/>
            <a:ext cx="6804025" cy="904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8605" algn="l"/>
              </a:tabLst>
            </a:pPr>
            <a:r>
              <a:rPr sz="1600" spc="-50" dirty="0">
                <a:solidFill>
                  <a:srgbClr val="2CA0BD"/>
                </a:solidFill>
                <a:cs typeface="Cambria Math"/>
              </a:rPr>
              <a:t>⦁</a:t>
            </a:r>
            <a:r>
              <a:rPr sz="1600" dirty="0">
                <a:solidFill>
                  <a:srgbClr val="2CA0BD"/>
                </a:solidFill>
                <a:cs typeface="Cambria Math"/>
              </a:rPr>
              <a:t>	</a:t>
            </a:r>
            <a:r>
              <a:rPr dirty="0"/>
              <a:t>Leitura</a:t>
            </a:r>
            <a:r>
              <a:rPr spc="-65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dirty="0"/>
              <a:t>um</a:t>
            </a:r>
            <a:r>
              <a:rPr spc="-40" dirty="0"/>
              <a:t> </a:t>
            </a:r>
            <a:r>
              <a:rPr dirty="0"/>
              <a:t>botão</a:t>
            </a:r>
            <a:r>
              <a:rPr spc="-55" dirty="0"/>
              <a:t> </a:t>
            </a:r>
            <a:r>
              <a:rPr dirty="0"/>
              <a:t>com</a:t>
            </a:r>
            <a:r>
              <a:rPr spc="-60" dirty="0"/>
              <a:t> </a:t>
            </a:r>
            <a:r>
              <a:rPr dirty="0"/>
              <a:t>resistor</a:t>
            </a:r>
            <a:r>
              <a:rPr spc="-10" dirty="0"/>
              <a:t> </a:t>
            </a:r>
            <a:r>
              <a:rPr sz="2500" i="1" spc="135" dirty="0">
                <a:solidFill>
                  <a:srgbClr val="FF0000"/>
                </a:solidFill>
                <a:cs typeface="Arial"/>
              </a:rPr>
              <a:t>pull-</a:t>
            </a:r>
            <a:r>
              <a:rPr sz="2500" i="1" spc="80" dirty="0">
                <a:solidFill>
                  <a:srgbClr val="FF0000"/>
                </a:solidFill>
                <a:cs typeface="Arial"/>
              </a:rPr>
              <a:t>down</a:t>
            </a:r>
            <a:endParaRPr sz="2500" dirty="0"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73066" y="2150554"/>
            <a:ext cx="30194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lr>
                <a:srgbClr val="2CA0BD"/>
              </a:buClr>
              <a:buFont typeface="Verdana"/>
              <a:buChar char="◦"/>
              <a:tabLst>
                <a:tab pos="240665" algn="l"/>
              </a:tabLst>
            </a:pPr>
            <a:r>
              <a:rPr sz="2000" dirty="0">
                <a:latin typeface="Abadi" panose="020B0604020104020204" pitchFamily="34" charset="0"/>
                <a:cs typeface="Lucida Sans Unicode"/>
              </a:rPr>
              <a:t>Ligação</a:t>
            </a:r>
            <a:r>
              <a:rPr sz="2000" spc="-9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000" dirty="0">
                <a:latin typeface="Abadi" panose="020B0604020104020204" pitchFamily="34" charset="0"/>
                <a:cs typeface="Lucida Sans Unicode"/>
              </a:rPr>
              <a:t>na</a:t>
            </a:r>
            <a:r>
              <a:rPr sz="2000" spc="-70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000" spc="-10" dirty="0">
                <a:latin typeface="Abadi" panose="020B0604020104020204" pitchFamily="34" charset="0"/>
                <a:cs typeface="Lucida Sans Unicode"/>
              </a:rPr>
              <a:t>protoboard</a:t>
            </a:r>
            <a:endParaRPr sz="2000" dirty="0">
              <a:latin typeface="Abadi" panose="020B0604020104020204" pitchFamily="34" charset="0"/>
              <a:cs typeface="Lucida Sans Unicode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2836" y="702563"/>
            <a:ext cx="6227064" cy="5425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20635" y="2354200"/>
            <a:ext cx="5565648" cy="4386072"/>
            <a:chOff x="1213103" y="2217420"/>
            <a:chExt cx="5565648" cy="4386072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3103" y="2217420"/>
              <a:ext cx="5565648" cy="43860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2324100"/>
              <a:ext cx="5327904" cy="4172712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45363" y="1176230"/>
            <a:ext cx="6804025" cy="904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8605" algn="l"/>
              </a:tabLst>
            </a:pPr>
            <a:r>
              <a:rPr sz="1600" spc="-50" dirty="0">
                <a:solidFill>
                  <a:srgbClr val="2CA0BD"/>
                </a:solidFill>
                <a:cs typeface="Cambria Math"/>
              </a:rPr>
              <a:t>⦁</a:t>
            </a:r>
            <a:r>
              <a:rPr sz="1600" dirty="0">
                <a:solidFill>
                  <a:srgbClr val="2CA0BD"/>
                </a:solidFill>
                <a:cs typeface="Cambria Math"/>
              </a:rPr>
              <a:t>	</a:t>
            </a:r>
            <a:r>
              <a:rPr dirty="0"/>
              <a:t>Leitura</a:t>
            </a:r>
            <a:r>
              <a:rPr spc="-65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dirty="0"/>
              <a:t>um</a:t>
            </a:r>
            <a:r>
              <a:rPr spc="-40" dirty="0"/>
              <a:t> </a:t>
            </a:r>
            <a:r>
              <a:rPr dirty="0"/>
              <a:t>botão</a:t>
            </a:r>
            <a:r>
              <a:rPr spc="-55" dirty="0"/>
              <a:t> </a:t>
            </a:r>
            <a:r>
              <a:rPr dirty="0"/>
              <a:t>com</a:t>
            </a:r>
            <a:r>
              <a:rPr spc="-60" dirty="0"/>
              <a:t> </a:t>
            </a:r>
            <a:r>
              <a:rPr dirty="0"/>
              <a:t>resistor</a:t>
            </a:r>
            <a:r>
              <a:rPr spc="-10" dirty="0"/>
              <a:t> </a:t>
            </a:r>
            <a:r>
              <a:rPr sz="2500" i="1" spc="135" dirty="0">
                <a:solidFill>
                  <a:srgbClr val="FF0000"/>
                </a:solidFill>
                <a:cs typeface="Arial"/>
              </a:rPr>
              <a:t>pull-</a:t>
            </a:r>
            <a:r>
              <a:rPr sz="2500" i="1" spc="80" dirty="0">
                <a:solidFill>
                  <a:srgbClr val="FF0000"/>
                </a:solidFill>
                <a:cs typeface="Arial"/>
              </a:rPr>
              <a:t>down</a:t>
            </a:r>
            <a:endParaRPr sz="2500" dirty="0"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42389" y="2063467"/>
            <a:ext cx="14306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lr>
                <a:srgbClr val="2CA0BD"/>
              </a:buClr>
              <a:buFont typeface="Verdana"/>
              <a:buChar char="◦"/>
              <a:tabLst>
                <a:tab pos="240665" algn="l"/>
              </a:tabLst>
            </a:pPr>
            <a:r>
              <a:rPr sz="2000" spc="-10" dirty="0">
                <a:latin typeface="Abadi" panose="020B0604020104020204" pitchFamily="34" charset="0"/>
                <a:cs typeface="Lucida Sans Unicode"/>
              </a:rPr>
              <a:t>Programa</a:t>
            </a:r>
            <a:endParaRPr sz="2000" dirty="0">
              <a:latin typeface="Abadi" panose="020B0604020104020204" pitchFamily="34" charset="0"/>
              <a:cs typeface="Lucida Sans Unicode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2836" y="702563"/>
            <a:ext cx="6227064" cy="5425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276855"/>
            <a:ext cx="7452359" cy="4581525"/>
            <a:chOff x="0" y="2276855"/>
            <a:chExt cx="7452359" cy="4581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7859" y="2276855"/>
              <a:ext cx="5524499" cy="40767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464052" y="3546347"/>
              <a:ext cx="559435" cy="414655"/>
            </a:xfrm>
            <a:custGeom>
              <a:avLst/>
              <a:gdLst/>
              <a:ahLst/>
              <a:cxnLst/>
              <a:rect l="l" t="t" r="r" b="b"/>
              <a:pathLst>
                <a:path w="559435" h="414654">
                  <a:moveTo>
                    <a:pt x="515239" y="207899"/>
                  </a:moveTo>
                  <a:lnTo>
                    <a:pt x="515112" y="200279"/>
                  </a:lnTo>
                  <a:lnTo>
                    <a:pt x="505714" y="161036"/>
                  </a:lnTo>
                  <a:lnTo>
                    <a:pt x="504317" y="158927"/>
                  </a:lnTo>
                  <a:lnTo>
                    <a:pt x="504317" y="207899"/>
                  </a:lnTo>
                  <a:lnTo>
                    <a:pt x="504063" y="215519"/>
                  </a:lnTo>
                  <a:lnTo>
                    <a:pt x="487553" y="264922"/>
                  </a:lnTo>
                  <a:lnTo>
                    <a:pt x="455168" y="301752"/>
                  </a:lnTo>
                  <a:lnTo>
                    <a:pt x="407670" y="332105"/>
                  </a:lnTo>
                  <a:lnTo>
                    <a:pt x="368808" y="347345"/>
                  </a:lnTo>
                  <a:lnTo>
                    <a:pt x="325374" y="357505"/>
                  </a:lnTo>
                  <a:lnTo>
                    <a:pt x="302387" y="360045"/>
                  </a:lnTo>
                  <a:lnTo>
                    <a:pt x="254889" y="360045"/>
                  </a:lnTo>
                  <a:lnTo>
                    <a:pt x="188468" y="347345"/>
                  </a:lnTo>
                  <a:lnTo>
                    <a:pt x="149606" y="332105"/>
                  </a:lnTo>
                  <a:lnTo>
                    <a:pt x="116332" y="311785"/>
                  </a:lnTo>
                  <a:lnTo>
                    <a:pt x="78867" y="275082"/>
                  </a:lnTo>
                  <a:lnTo>
                    <a:pt x="58801" y="235839"/>
                  </a:lnTo>
                  <a:lnTo>
                    <a:pt x="54864" y="206629"/>
                  </a:lnTo>
                  <a:lnTo>
                    <a:pt x="55118" y="199009"/>
                  </a:lnTo>
                  <a:lnTo>
                    <a:pt x="71628" y="149606"/>
                  </a:lnTo>
                  <a:lnTo>
                    <a:pt x="104013" y="112776"/>
                  </a:lnTo>
                  <a:lnTo>
                    <a:pt x="151638" y="82423"/>
                  </a:lnTo>
                  <a:lnTo>
                    <a:pt x="190373" y="67183"/>
                  </a:lnTo>
                  <a:lnTo>
                    <a:pt x="233807" y="58293"/>
                  </a:lnTo>
                  <a:lnTo>
                    <a:pt x="280543" y="54483"/>
                  </a:lnTo>
                  <a:lnTo>
                    <a:pt x="304292" y="55753"/>
                  </a:lnTo>
                  <a:lnTo>
                    <a:pt x="370713" y="68453"/>
                  </a:lnTo>
                  <a:lnTo>
                    <a:pt x="409702" y="83693"/>
                  </a:lnTo>
                  <a:lnTo>
                    <a:pt x="442976" y="102743"/>
                  </a:lnTo>
                  <a:lnTo>
                    <a:pt x="480441" y="139446"/>
                  </a:lnTo>
                  <a:lnTo>
                    <a:pt x="500380" y="179959"/>
                  </a:lnTo>
                  <a:lnTo>
                    <a:pt x="504317" y="207899"/>
                  </a:lnTo>
                  <a:lnTo>
                    <a:pt x="504317" y="158927"/>
                  </a:lnTo>
                  <a:lnTo>
                    <a:pt x="477266" y="117856"/>
                  </a:lnTo>
                  <a:lnTo>
                    <a:pt x="432308" y="82423"/>
                  </a:lnTo>
                  <a:lnTo>
                    <a:pt x="394335" y="64643"/>
                  </a:lnTo>
                  <a:lnTo>
                    <a:pt x="328549" y="46863"/>
                  </a:lnTo>
                  <a:lnTo>
                    <a:pt x="280162" y="43053"/>
                  </a:lnTo>
                  <a:lnTo>
                    <a:pt x="231775" y="46863"/>
                  </a:lnTo>
                  <a:lnTo>
                    <a:pt x="186817" y="57035"/>
                  </a:lnTo>
                  <a:lnTo>
                    <a:pt x="146431" y="72263"/>
                  </a:lnTo>
                  <a:lnTo>
                    <a:pt x="111506" y="92583"/>
                  </a:lnTo>
                  <a:lnTo>
                    <a:pt x="54102" y="159766"/>
                  </a:lnTo>
                  <a:lnTo>
                    <a:pt x="44196" y="199009"/>
                  </a:lnTo>
                  <a:lnTo>
                    <a:pt x="44069" y="215519"/>
                  </a:lnTo>
                  <a:lnTo>
                    <a:pt x="44958" y="223139"/>
                  </a:lnTo>
                  <a:lnTo>
                    <a:pt x="60833" y="268732"/>
                  </a:lnTo>
                  <a:lnTo>
                    <a:pt x="95250" y="309372"/>
                  </a:lnTo>
                  <a:lnTo>
                    <a:pt x="127000" y="332105"/>
                  </a:lnTo>
                  <a:lnTo>
                    <a:pt x="164846" y="351155"/>
                  </a:lnTo>
                  <a:lnTo>
                    <a:pt x="207645" y="363855"/>
                  </a:lnTo>
                  <a:lnTo>
                    <a:pt x="254508" y="370205"/>
                  </a:lnTo>
                  <a:lnTo>
                    <a:pt x="278892" y="371475"/>
                  </a:lnTo>
                  <a:lnTo>
                    <a:pt x="303657" y="370205"/>
                  </a:lnTo>
                  <a:lnTo>
                    <a:pt x="350266" y="363855"/>
                  </a:lnTo>
                  <a:lnTo>
                    <a:pt x="412877" y="342265"/>
                  </a:lnTo>
                  <a:lnTo>
                    <a:pt x="447675" y="321945"/>
                  </a:lnTo>
                  <a:lnTo>
                    <a:pt x="487680" y="283972"/>
                  </a:lnTo>
                  <a:lnTo>
                    <a:pt x="508127" y="247142"/>
                  </a:lnTo>
                  <a:lnTo>
                    <a:pt x="515239" y="207899"/>
                  </a:lnTo>
                  <a:close/>
                </a:path>
                <a:path w="559435" h="414654">
                  <a:moveTo>
                    <a:pt x="559181" y="206629"/>
                  </a:moveTo>
                  <a:lnTo>
                    <a:pt x="558673" y="195199"/>
                  </a:lnTo>
                  <a:lnTo>
                    <a:pt x="549275" y="152146"/>
                  </a:lnTo>
                  <a:lnTo>
                    <a:pt x="526288" y="111137"/>
                  </a:lnTo>
                  <a:lnTo>
                    <a:pt x="526288" y="207899"/>
                  </a:lnTo>
                  <a:lnTo>
                    <a:pt x="526034" y="216789"/>
                  </a:lnTo>
                  <a:lnTo>
                    <a:pt x="515366" y="258572"/>
                  </a:lnTo>
                  <a:lnTo>
                    <a:pt x="484505" y="304292"/>
                  </a:lnTo>
                  <a:lnTo>
                    <a:pt x="454533" y="330835"/>
                  </a:lnTo>
                  <a:lnTo>
                    <a:pt x="417957" y="352425"/>
                  </a:lnTo>
                  <a:lnTo>
                    <a:pt x="375920" y="368935"/>
                  </a:lnTo>
                  <a:lnTo>
                    <a:pt x="329438" y="379095"/>
                  </a:lnTo>
                  <a:lnTo>
                    <a:pt x="279273" y="382778"/>
                  </a:lnTo>
                  <a:lnTo>
                    <a:pt x="254000" y="381508"/>
                  </a:lnTo>
                  <a:lnTo>
                    <a:pt x="182880" y="368935"/>
                  </a:lnTo>
                  <a:lnTo>
                    <a:pt x="140843" y="352425"/>
                  </a:lnTo>
                  <a:lnTo>
                    <a:pt x="104394" y="330835"/>
                  </a:lnTo>
                  <a:lnTo>
                    <a:pt x="74295" y="304292"/>
                  </a:lnTo>
                  <a:lnTo>
                    <a:pt x="43688" y="258572"/>
                  </a:lnTo>
                  <a:lnTo>
                    <a:pt x="33147" y="216789"/>
                  </a:lnTo>
                  <a:lnTo>
                    <a:pt x="32893" y="207899"/>
                  </a:lnTo>
                  <a:lnTo>
                    <a:pt x="33147" y="199009"/>
                  </a:lnTo>
                  <a:lnTo>
                    <a:pt x="43815" y="155956"/>
                  </a:lnTo>
                  <a:lnTo>
                    <a:pt x="74676" y="110236"/>
                  </a:lnTo>
                  <a:lnTo>
                    <a:pt x="104775" y="84963"/>
                  </a:lnTo>
                  <a:lnTo>
                    <a:pt x="141224" y="63373"/>
                  </a:lnTo>
                  <a:lnTo>
                    <a:pt x="183261" y="46863"/>
                  </a:lnTo>
                  <a:lnTo>
                    <a:pt x="254381" y="33020"/>
                  </a:lnTo>
                  <a:lnTo>
                    <a:pt x="279781" y="33020"/>
                  </a:lnTo>
                  <a:lnTo>
                    <a:pt x="329819" y="36703"/>
                  </a:lnTo>
                  <a:lnTo>
                    <a:pt x="376301" y="46863"/>
                  </a:lnTo>
                  <a:lnTo>
                    <a:pt x="418465" y="63373"/>
                  </a:lnTo>
                  <a:lnTo>
                    <a:pt x="454914" y="84963"/>
                  </a:lnTo>
                  <a:lnTo>
                    <a:pt x="484886" y="110236"/>
                  </a:lnTo>
                  <a:lnTo>
                    <a:pt x="515493" y="155956"/>
                  </a:lnTo>
                  <a:lnTo>
                    <a:pt x="526034" y="199009"/>
                  </a:lnTo>
                  <a:lnTo>
                    <a:pt x="526288" y="207899"/>
                  </a:lnTo>
                  <a:lnTo>
                    <a:pt x="526288" y="111137"/>
                  </a:lnTo>
                  <a:lnTo>
                    <a:pt x="491236" y="70993"/>
                  </a:lnTo>
                  <a:lnTo>
                    <a:pt x="453009" y="44335"/>
                  </a:lnTo>
                  <a:lnTo>
                    <a:pt x="408686" y="22872"/>
                  </a:lnTo>
                  <a:lnTo>
                    <a:pt x="359410" y="8890"/>
                  </a:lnTo>
                  <a:lnTo>
                    <a:pt x="306324" y="1270"/>
                  </a:lnTo>
                  <a:lnTo>
                    <a:pt x="278638" y="0"/>
                  </a:lnTo>
                  <a:lnTo>
                    <a:pt x="223774" y="3822"/>
                  </a:lnTo>
                  <a:lnTo>
                    <a:pt x="172466" y="15240"/>
                  </a:lnTo>
                  <a:lnTo>
                    <a:pt x="125730" y="34163"/>
                  </a:lnTo>
                  <a:lnTo>
                    <a:pt x="84328" y="58293"/>
                  </a:lnTo>
                  <a:lnTo>
                    <a:pt x="49530" y="88773"/>
                  </a:lnTo>
                  <a:lnTo>
                    <a:pt x="22860" y="124206"/>
                  </a:lnTo>
                  <a:lnTo>
                    <a:pt x="5969" y="164846"/>
                  </a:lnTo>
                  <a:lnTo>
                    <a:pt x="0" y="207899"/>
                  </a:lnTo>
                  <a:lnTo>
                    <a:pt x="508" y="219329"/>
                  </a:lnTo>
                  <a:lnTo>
                    <a:pt x="9906" y="262382"/>
                  </a:lnTo>
                  <a:lnTo>
                    <a:pt x="36957" y="311785"/>
                  </a:lnTo>
                  <a:lnTo>
                    <a:pt x="68072" y="343535"/>
                  </a:lnTo>
                  <a:lnTo>
                    <a:pt x="106299" y="370205"/>
                  </a:lnTo>
                  <a:lnTo>
                    <a:pt x="150495" y="391668"/>
                  </a:lnTo>
                  <a:lnTo>
                    <a:pt x="199644" y="406908"/>
                  </a:lnTo>
                  <a:lnTo>
                    <a:pt x="252857" y="414528"/>
                  </a:lnTo>
                  <a:lnTo>
                    <a:pt x="308229" y="414528"/>
                  </a:lnTo>
                  <a:lnTo>
                    <a:pt x="361442" y="405638"/>
                  </a:lnTo>
                  <a:lnTo>
                    <a:pt x="410591" y="390398"/>
                  </a:lnTo>
                  <a:lnTo>
                    <a:pt x="474980" y="356235"/>
                  </a:lnTo>
                  <a:lnTo>
                    <a:pt x="509651" y="325755"/>
                  </a:lnTo>
                  <a:lnTo>
                    <a:pt x="536321" y="290322"/>
                  </a:lnTo>
                  <a:lnTo>
                    <a:pt x="553212" y="250952"/>
                  </a:lnTo>
                  <a:lnTo>
                    <a:pt x="559181" y="206629"/>
                  </a:lnTo>
                  <a:close/>
                </a:path>
              </a:pathLst>
            </a:custGeom>
            <a:solidFill>
              <a:srgbClr val="DA1F28"/>
            </a:solidFill>
          </p:spPr>
          <p:txBody>
            <a:bodyPr wrap="square" lIns="0" tIns="0" rIns="0" bIns="0" rtlCol="0"/>
            <a:lstStyle/>
            <a:p>
              <a:endParaRPr dirty="0">
                <a:latin typeface="Abadi" panose="020B0604020104020204" pitchFamily="34" charset="0"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220" y="2689859"/>
              <a:ext cx="1411224" cy="97840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5131" y="2709672"/>
              <a:ext cx="1295400" cy="86258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75131" y="2709672"/>
            <a:ext cx="1295400" cy="746358"/>
          </a:xfrm>
          <a:prstGeom prst="rect">
            <a:avLst/>
          </a:prstGeom>
          <a:ln w="9144">
            <a:solidFill>
              <a:srgbClr val="EB621B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275590" marR="251460" indent="-22860" algn="just">
              <a:lnSpc>
                <a:spcPct val="100000"/>
              </a:lnSpc>
              <a:spcBef>
                <a:spcPts val="60"/>
              </a:spcBef>
            </a:pPr>
            <a:r>
              <a:rPr sz="1600" spc="-20" dirty="0">
                <a:latin typeface="Abadi" panose="020B0604020104020204" pitchFamily="34" charset="0"/>
                <a:cs typeface="Lucida Sans Unicode"/>
              </a:rPr>
              <a:t>Resistor pull-</a:t>
            </a:r>
            <a:r>
              <a:rPr sz="1600" spc="-25" dirty="0">
                <a:latin typeface="Abadi" panose="020B0604020104020204" pitchFamily="34" charset="0"/>
                <a:cs typeface="Lucida Sans Unicode"/>
              </a:rPr>
              <a:t>up </a:t>
            </a:r>
            <a:r>
              <a:rPr sz="1600" spc="-20" dirty="0">
                <a:solidFill>
                  <a:srgbClr val="FF0000"/>
                </a:solidFill>
                <a:latin typeface="Abadi" panose="020B0604020104020204" pitchFamily="34" charset="0"/>
                <a:cs typeface="Lucida Sans Unicode"/>
              </a:rPr>
              <a:t>10kΩ</a:t>
            </a:r>
            <a:endParaRPr sz="1600" dirty="0">
              <a:latin typeface="Abadi" panose="020B0604020104020204" pitchFamily="34" charset="0"/>
              <a:cs typeface="Lucida Sans Unicode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645363" y="1176230"/>
            <a:ext cx="6413500" cy="904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8605" algn="l"/>
              </a:tabLst>
            </a:pPr>
            <a:r>
              <a:rPr sz="1600" spc="-50" dirty="0">
                <a:solidFill>
                  <a:srgbClr val="2CA0BD"/>
                </a:solidFill>
                <a:cs typeface="Cambria Math"/>
              </a:rPr>
              <a:t>⦁</a:t>
            </a:r>
            <a:r>
              <a:rPr sz="1600" dirty="0">
                <a:solidFill>
                  <a:srgbClr val="2CA0BD"/>
                </a:solidFill>
                <a:cs typeface="Cambria Math"/>
              </a:rPr>
              <a:t>	</a:t>
            </a:r>
            <a:r>
              <a:rPr dirty="0"/>
              <a:t>Leitura</a:t>
            </a:r>
            <a:r>
              <a:rPr spc="-60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dirty="0"/>
              <a:t>um</a:t>
            </a:r>
            <a:r>
              <a:rPr spc="-35" dirty="0"/>
              <a:t> </a:t>
            </a:r>
            <a:r>
              <a:rPr dirty="0"/>
              <a:t>botão</a:t>
            </a:r>
            <a:r>
              <a:rPr spc="-55" dirty="0"/>
              <a:t> </a:t>
            </a:r>
            <a:r>
              <a:rPr dirty="0"/>
              <a:t>com</a:t>
            </a:r>
            <a:r>
              <a:rPr spc="-35" dirty="0"/>
              <a:t> </a:t>
            </a:r>
            <a:r>
              <a:rPr dirty="0"/>
              <a:t>resistor</a:t>
            </a:r>
            <a:r>
              <a:rPr spc="-35" dirty="0"/>
              <a:t> </a:t>
            </a:r>
            <a:r>
              <a:rPr sz="2500" i="1" spc="170" dirty="0">
                <a:solidFill>
                  <a:srgbClr val="FF0000"/>
                </a:solidFill>
                <a:cs typeface="Arial"/>
              </a:rPr>
              <a:t>pull-</a:t>
            </a:r>
            <a:r>
              <a:rPr sz="2500" i="1" spc="155" dirty="0">
                <a:solidFill>
                  <a:srgbClr val="FF0000"/>
                </a:solidFill>
                <a:cs typeface="Arial"/>
              </a:rPr>
              <a:t>up</a:t>
            </a:r>
            <a:endParaRPr sz="2500" dirty="0"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3000" y="2147368"/>
            <a:ext cx="30194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lr>
                <a:srgbClr val="2CA0BD"/>
              </a:buClr>
              <a:buFont typeface="Verdana"/>
              <a:buChar char="◦"/>
              <a:tabLst>
                <a:tab pos="240665" algn="l"/>
              </a:tabLst>
            </a:pPr>
            <a:r>
              <a:rPr sz="2000" dirty="0">
                <a:latin typeface="Abadi" panose="020B0604020104020204" pitchFamily="34" charset="0"/>
                <a:cs typeface="Lucida Sans Unicode"/>
              </a:rPr>
              <a:t>Ligação</a:t>
            </a:r>
            <a:r>
              <a:rPr sz="2000" spc="-9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000" dirty="0">
                <a:latin typeface="Abadi" panose="020B0604020104020204" pitchFamily="34" charset="0"/>
                <a:cs typeface="Lucida Sans Unicode"/>
              </a:rPr>
              <a:t>na</a:t>
            </a:r>
            <a:r>
              <a:rPr sz="2000" spc="-70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000" spc="-10" dirty="0">
                <a:latin typeface="Abadi" panose="020B0604020104020204" pitchFamily="34" charset="0"/>
                <a:cs typeface="Lucida Sans Unicode"/>
              </a:rPr>
              <a:t>protoboard</a:t>
            </a:r>
            <a:endParaRPr sz="2000" dirty="0">
              <a:latin typeface="Abadi" panose="020B0604020104020204" pitchFamily="34" charset="0"/>
              <a:cs typeface="Lucida Sans Unicode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2836" y="702563"/>
            <a:ext cx="6227064" cy="5425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5363" y="1176230"/>
            <a:ext cx="6413500" cy="904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8605" algn="l"/>
              </a:tabLst>
            </a:pPr>
            <a:r>
              <a:rPr sz="1600" spc="-50" dirty="0">
                <a:solidFill>
                  <a:srgbClr val="2CA0BD"/>
                </a:solidFill>
                <a:cs typeface="Cambria Math"/>
              </a:rPr>
              <a:t>⦁</a:t>
            </a:r>
            <a:r>
              <a:rPr sz="1600" dirty="0">
                <a:solidFill>
                  <a:srgbClr val="2CA0BD"/>
                </a:solidFill>
                <a:cs typeface="Cambria Math"/>
              </a:rPr>
              <a:t>	</a:t>
            </a:r>
            <a:r>
              <a:rPr dirty="0"/>
              <a:t>Leitura</a:t>
            </a:r>
            <a:r>
              <a:rPr spc="-60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dirty="0"/>
              <a:t>um</a:t>
            </a:r>
            <a:r>
              <a:rPr spc="-35" dirty="0"/>
              <a:t> </a:t>
            </a:r>
            <a:r>
              <a:rPr dirty="0"/>
              <a:t>botão</a:t>
            </a:r>
            <a:r>
              <a:rPr spc="-55" dirty="0"/>
              <a:t> </a:t>
            </a:r>
            <a:r>
              <a:rPr dirty="0"/>
              <a:t>com</a:t>
            </a:r>
            <a:r>
              <a:rPr spc="-35" dirty="0"/>
              <a:t> </a:t>
            </a:r>
            <a:r>
              <a:rPr dirty="0"/>
              <a:t>resistor</a:t>
            </a:r>
            <a:r>
              <a:rPr spc="-35" dirty="0"/>
              <a:t> </a:t>
            </a:r>
            <a:r>
              <a:rPr sz="2500" i="1" spc="170" dirty="0">
                <a:solidFill>
                  <a:srgbClr val="FF0000"/>
                </a:solidFill>
                <a:cs typeface="Arial"/>
              </a:rPr>
              <a:t>pull-</a:t>
            </a:r>
            <a:r>
              <a:rPr sz="2500" i="1" spc="155" dirty="0">
                <a:solidFill>
                  <a:srgbClr val="FF0000"/>
                </a:solidFill>
                <a:cs typeface="Arial"/>
              </a:rPr>
              <a:t>up</a:t>
            </a:r>
            <a:endParaRPr sz="2500" dirty="0"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74076" y="2078399"/>
            <a:ext cx="14306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lr>
                <a:srgbClr val="2CA0BD"/>
              </a:buClr>
              <a:buFont typeface="Verdana"/>
              <a:buChar char="◦"/>
              <a:tabLst>
                <a:tab pos="240665" algn="l"/>
              </a:tabLst>
            </a:pPr>
            <a:r>
              <a:rPr sz="2000" spc="-10" dirty="0">
                <a:latin typeface="Abadi" panose="020B0604020104020204" pitchFamily="34" charset="0"/>
                <a:cs typeface="Lucida Sans Unicode"/>
              </a:rPr>
              <a:t>Programa</a:t>
            </a:r>
            <a:endParaRPr sz="2000" dirty="0">
              <a:latin typeface="Abadi" panose="020B0604020104020204" pitchFamily="34" charset="0"/>
              <a:cs typeface="Lucida Sans Unicod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836" y="702563"/>
            <a:ext cx="6227064" cy="54254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7800" y="2343775"/>
            <a:ext cx="5606796" cy="441502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66672" y="2451979"/>
            <a:ext cx="5369051" cy="41986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280659"/>
            <a:ext cx="7809230" cy="1577340"/>
            <a:chOff x="0" y="5280659"/>
            <a:chExt cx="7809230" cy="15773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84419" y="5280659"/>
              <a:ext cx="2924555" cy="83667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42332" y="5300471"/>
              <a:ext cx="2808732" cy="72085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942332" y="5300471"/>
              <a:ext cx="2808605" cy="720725"/>
            </a:xfrm>
            <a:custGeom>
              <a:avLst/>
              <a:gdLst/>
              <a:ahLst/>
              <a:cxnLst/>
              <a:rect l="l" t="t" r="r" b="b"/>
              <a:pathLst>
                <a:path w="2808604" h="720725">
                  <a:moveTo>
                    <a:pt x="0" y="720343"/>
                  </a:moveTo>
                  <a:lnTo>
                    <a:pt x="2808223" y="720343"/>
                  </a:lnTo>
                  <a:lnTo>
                    <a:pt x="2808223" y="0"/>
                  </a:lnTo>
                  <a:lnTo>
                    <a:pt x="0" y="0"/>
                  </a:lnTo>
                  <a:lnTo>
                    <a:pt x="0" y="720343"/>
                  </a:lnTo>
                  <a:close/>
                </a:path>
              </a:pathLst>
            </a:custGeom>
            <a:ln w="9144">
              <a:solidFill>
                <a:srgbClr val="DA1F28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Abadi" panose="020B0604020104020204" pitchFamily="34" charset="0"/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45363" y="1455165"/>
            <a:ext cx="105346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8605" algn="l"/>
              </a:tabLst>
            </a:pPr>
            <a:r>
              <a:rPr sz="1800" spc="-50" dirty="0">
                <a:solidFill>
                  <a:srgbClr val="2CA0BD"/>
                </a:solidFill>
                <a:cs typeface="Cambria Math"/>
              </a:rPr>
              <a:t>⦁</a:t>
            </a:r>
            <a:r>
              <a:rPr sz="1800" dirty="0">
                <a:solidFill>
                  <a:srgbClr val="2CA0BD"/>
                </a:solidFill>
                <a:cs typeface="Cambria Math"/>
              </a:rPr>
              <a:t>	</a:t>
            </a:r>
            <a:r>
              <a:rPr sz="2700" b="1" spc="30" dirty="0">
                <a:cs typeface="Trebuchet MS"/>
              </a:rPr>
              <a:t>Nota</a:t>
            </a:r>
            <a:endParaRPr sz="2700" dirty="0"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8827" y="1903222"/>
            <a:ext cx="7624445" cy="284667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1300" marR="5080" indent="-228600">
              <a:lnSpc>
                <a:spcPct val="99100"/>
              </a:lnSpc>
              <a:spcBef>
                <a:spcPts val="125"/>
              </a:spcBef>
              <a:buClr>
                <a:srgbClr val="2CA0BD"/>
              </a:buClr>
              <a:buFont typeface="Verdana"/>
              <a:buChar char="◦"/>
              <a:tabLst>
                <a:tab pos="241300" algn="l"/>
              </a:tabLst>
            </a:pPr>
            <a:r>
              <a:rPr sz="2300" dirty="0">
                <a:latin typeface="Abadi" panose="020B0604020104020204" pitchFamily="34" charset="0"/>
                <a:cs typeface="Lucida Sans Unicode"/>
              </a:rPr>
              <a:t>O</a:t>
            </a:r>
            <a:r>
              <a:rPr sz="2300" spc="-3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Arduino</a:t>
            </a:r>
            <a:r>
              <a:rPr sz="2300" spc="-50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possui</a:t>
            </a:r>
            <a:r>
              <a:rPr sz="2300" spc="-40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uma</a:t>
            </a:r>
            <a:r>
              <a:rPr sz="2300" spc="-1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constante</a:t>
            </a:r>
            <a:r>
              <a:rPr sz="2300" spc="-7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spc="-10" dirty="0">
                <a:latin typeface="Abadi" panose="020B0604020104020204" pitchFamily="34" charset="0"/>
                <a:cs typeface="Lucida Sans Unicode"/>
              </a:rPr>
              <a:t>chamada </a:t>
            </a:r>
            <a:r>
              <a:rPr sz="2400" i="1" spc="-165" dirty="0">
                <a:solidFill>
                  <a:srgbClr val="FF0000"/>
                </a:solidFill>
                <a:latin typeface="Abadi" panose="020B0604020104020204" pitchFamily="34" charset="0"/>
                <a:cs typeface="Arial"/>
              </a:rPr>
              <a:t>INPUT_PULLUP</a:t>
            </a:r>
            <a:r>
              <a:rPr sz="2400" i="1" spc="-395" dirty="0">
                <a:solidFill>
                  <a:srgbClr val="FF0000"/>
                </a:solidFill>
                <a:latin typeface="Abadi" panose="020B0604020104020204" pitchFamily="34" charset="0"/>
                <a:cs typeface="Arial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que</a:t>
            </a:r>
            <a:r>
              <a:rPr sz="2300" spc="-50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define</a:t>
            </a:r>
            <a:r>
              <a:rPr sz="2300" spc="-4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que</a:t>
            </a:r>
            <a:r>
              <a:rPr sz="2300" spc="-3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a</a:t>
            </a:r>
            <a:r>
              <a:rPr sz="2300" spc="-1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porta</a:t>
            </a:r>
            <a:r>
              <a:rPr sz="2300" spc="-2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será</a:t>
            </a:r>
            <a:r>
              <a:rPr sz="2300" spc="-10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spc="-25" dirty="0">
                <a:latin typeface="Abadi" panose="020B0604020104020204" pitchFamily="34" charset="0"/>
                <a:cs typeface="Lucida Sans Unicode"/>
              </a:rPr>
              <a:t>de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entrada</a:t>
            </a:r>
            <a:r>
              <a:rPr sz="2300" spc="-7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e</a:t>
            </a:r>
            <a:r>
              <a:rPr sz="2300" spc="-2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o</a:t>
            </a:r>
            <a:r>
              <a:rPr sz="2300" spc="-3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resistor</a:t>
            </a:r>
            <a:r>
              <a:rPr sz="2300" spc="-80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400" i="1" u="heavy" spc="150" dirty="0">
                <a:uFill>
                  <a:solidFill>
                    <a:srgbClr val="000000"/>
                  </a:solidFill>
                </a:uFill>
                <a:latin typeface="Abadi" panose="020B0604020104020204" pitchFamily="34" charset="0"/>
                <a:cs typeface="Arial"/>
              </a:rPr>
              <a:t>pull-</a:t>
            </a:r>
            <a:r>
              <a:rPr sz="2400" i="1" u="heavy" spc="65" dirty="0">
                <a:uFill>
                  <a:solidFill>
                    <a:srgbClr val="000000"/>
                  </a:solidFill>
                </a:uFill>
                <a:latin typeface="Abadi" panose="020B0604020104020204" pitchFamily="34" charset="0"/>
                <a:cs typeface="Arial"/>
              </a:rPr>
              <a:t>up</a:t>
            </a:r>
            <a:r>
              <a:rPr sz="2400" i="1" spc="50" dirty="0">
                <a:latin typeface="Abadi" panose="020B0604020104020204" pitchFamily="34" charset="0"/>
                <a:cs typeface="Arial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da</a:t>
            </a:r>
            <a:r>
              <a:rPr sz="2300" spc="-3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mesma</a:t>
            </a:r>
            <a:r>
              <a:rPr sz="2300" spc="-1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dirty="0">
                <a:latin typeface="Abadi" panose="020B0604020104020204" pitchFamily="34" charset="0"/>
                <a:cs typeface="Lucida Sans Unicode"/>
              </a:rPr>
              <a:t>será</a:t>
            </a:r>
            <a:r>
              <a:rPr sz="2300" spc="-3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300" spc="-10" dirty="0">
                <a:latin typeface="Abadi" panose="020B0604020104020204" pitchFamily="34" charset="0"/>
                <a:cs typeface="Lucida Sans Unicode"/>
              </a:rPr>
              <a:t>ativado.</a:t>
            </a:r>
            <a:endParaRPr sz="2300" dirty="0">
              <a:latin typeface="Abadi" panose="020B0604020104020204" pitchFamily="34" charset="0"/>
              <a:cs typeface="Lucida Sans Unicode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2CA0BD"/>
              </a:buClr>
              <a:buFont typeface="Verdana"/>
              <a:buChar char="◦"/>
              <a:tabLst>
                <a:tab pos="240665" algn="l"/>
              </a:tabLst>
            </a:pPr>
            <a:r>
              <a:rPr sz="2300" spc="-10" dirty="0">
                <a:solidFill>
                  <a:srgbClr val="FF0000"/>
                </a:solidFill>
                <a:latin typeface="Abadi" panose="020B0604020104020204" pitchFamily="34" charset="0"/>
                <a:cs typeface="Lucida Sans Unicode"/>
              </a:rPr>
              <a:t>Exemplo</a:t>
            </a:r>
            <a:r>
              <a:rPr sz="2300" spc="-10" dirty="0">
                <a:latin typeface="Abadi" panose="020B0604020104020204" pitchFamily="34" charset="0"/>
                <a:cs typeface="Lucida Sans Unicode"/>
              </a:rPr>
              <a:t>:</a:t>
            </a:r>
            <a:endParaRPr sz="2300" dirty="0">
              <a:latin typeface="Abadi" panose="020B0604020104020204" pitchFamily="34" charset="0"/>
              <a:cs typeface="Lucida Sans Unicode"/>
            </a:endParaRPr>
          </a:p>
          <a:p>
            <a:pPr marL="762000">
              <a:lnSpc>
                <a:spcPct val="100000"/>
              </a:lnSpc>
              <a:spcBef>
                <a:spcPts val="780"/>
              </a:spcBef>
            </a:pPr>
            <a:r>
              <a:rPr sz="1800" b="1" dirty="0">
                <a:latin typeface="Abadi" panose="020B0604020104020204" pitchFamily="34" charset="0"/>
                <a:cs typeface="Trebuchet MS"/>
              </a:rPr>
              <a:t>void</a:t>
            </a:r>
            <a:r>
              <a:rPr sz="1800" b="1" spc="70" dirty="0">
                <a:latin typeface="Abadi" panose="020B0604020104020204" pitchFamily="34" charset="0"/>
                <a:cs typeface="Trebuchet MS"/>
              </a:rPr>
              <a:t> </a:t>
            </a:r>
            <a:r>
              <a:rPr sz="1800" b="1" spc="-10" dirty="0">
                <a:latin typeface="Abadi" panose="020B0604020104020204" pitchFamily="34" charset="0"/>
                <a:cs typeface="Trebuchet MS"/>
              </a:rPr>
              <a:t>setup()</a:t>
            </a:r>
            <a:endParaRPr sz="1800" dirty="0">
              <a:latin typeface="Abadi" panose="020B0604020104020204" pitchFamily="34" charset="0"/>
              <a:cs typeface="Trebuchet MS"/>
            </a:endParaRPr>
          </a:p>
          <a:p>
            <a:pPr marL="762000">
              <a:lnSpc>
                <a:spcPct val="100000"/>
              </a:lnSpc>
              <a:spcBef>
                <a:spcPts val="395"/>
              </a:spcBef>
            </a:pPr>
            <a:r>
              <a:rPr sz="1800" b="1" spc="-50" dirty="0">
                <a:latin typeface="Abadi" panose="020B0604020104020204" pitchFamily="34" charset="0"/>
                <a:cs typeface="Trebuchet MS"/>
              </a:rPr>
              <a:t>{</a:t>
            </a:r>
            <a:endParaRPr sz="1800" dirty="0">
              <a:latin typeface="Abadi" panose="020B0604020104020204" pitchFamily="34" charset="0"/>
              <a:cs typeface="Trebuchet MS"/>
            </a:endParaRPr>
          </a:p>
          <a:p>
            <a:pPr marL="909955">
              <a:lnSpc>
                <a:spcPct val="100000"/>
              </a:lnSpc>
              <a:spcBef>
                <a:spcPts val="295"/>
              </a:spcBef>
            </a:pPr>
            <a:r>
              <a:rPr sz="1800" b="1" spc="45" dirty="0">
                <a:solidFill>
                  <a:srgbClr val="FF0000"/>
                </a:solidFill>
                <a:latin typeface="Abadi" panose="020B0604020104020204" pitchFamily="34" charset="0"/>
                <a:cs typeface="Trebuchet MS"/>
              </a:rPr>
              <a:t>pinMode(</a:t>
            </a:r>
            <a:r>
              <a:rPr sz="1900" b="1" i="1" spc="45" dirty="0">
                <a:solidFill>
                  <a:srgbClr val="FF0000"/>
                </a:solidFill>
                <a:latin typeface="Abadi" panose="020B0604020104020204" pitchFamily="34" charset="0"/>
                <a:cs typeface="Arial"/>
              </a:rPr>
              <a:t>10,</a:t>
            </a:r>
            <a:r>
              <a:rPr sz="1900" b="1" i="1" spc="20" dirty="0">
                <a:solidFill>
                  <a:srgbClr val="FF0000"/>
                </a:solidFill>
                <a:latin typeface="Abadi" panose="020B0604020104020204" pitchFamily="34" charset="0"/>
                <a:cs typeface="Arial"/>
              </a:rPr>
              <a:t> </a:t>
            </a:r>
            <a:r>
              <a:rPr sz="1900" b="1" i="1" spc="-85" dirty="0">
                <a:solidFill>
                  <a:srgbClr val="FF0000"/>
                </a:solidFill>
                <a:latin typeface="Abadi" panose="020B0604020104020204" pitchFamily="34" charset="0"/>
                <a:cs typeface="Arial"/>
              </a:rPr>
              <a:t>INPUT_PULLUP</a:t>
            </a:r>
            <a:r>
              <a:rPr sz="1800" b="1" spc="-85" dirty="0">
                <a:solidFill>
                  <a:srgbClr val="FF0000"/>
                </a:solidFill>
                <a:latin typeface="Abadi" panose="020B0604020104020204" pitchFamily="34" charset="0"/>
                <a:cs typeface="Trebuchet MS"/>
              </a:rPr>
              <a:t>);</a:t>
            </a:r>
            <a:endParaRPr sz="1800" dirty="0">
              <a:latin typeface="Abadi" panose="020B0604020104020204" pitchFamily="34" charset="0"/>
              <a:cs typeface="Trebuchet MS"/>
            </a:endParaRPr>
          </a:p>
          <a:p>
            <a:pPr marL="762000">
              <a:lnSpc>
                <a:spcPct val="100000"/>
              </a:lnSpc>
              <a:spcBef>
                <a:spcPts val="400"/>
              </a:spcBef>
            </a:pPr>
            <a:r>
              <a:rPr sz="1800" b="1" spc="-50" dirty="0">
                <a:latin typeface="Abadi" panose="020B0604020104020204" pitchFamily="34" charset="0"/>
                <a:cs typeface="Trebuchet MS"/>
              </a:rPr>
              <a:t>}</a:t>
            </a:r>
            <a:endParaRPr sz="1800" dirty="0">
              <a:latin typeface="Abadi" panose="020B0604020104020204" pitchFamily="34" charset="0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42661" y="5425541"/>
            <a:ext cx="2584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205" marR="5080" indent="-104139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badi" panose="020B0604020104020204" pitchFamily="34" charset="0"/>
                <a:cs typeface="Lucida Sans Unicode"/>
              </a:rPr>
              <a:t>Define</a:t>
            </a:r>
            <a:r>
              <a:rPr sz="1200" spc="-60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1200" dirty="0">
                <a:latin typeface="Abadi" panose="020B0604020104020204" pitchFamily="34" charset="0"/>
                <a:cs typeface="Lucida Sans Unicode"/>
              </a:rPr>
              <a:t>a</a:t>
            </a:r>
            <a:r>
              <a:rPr sz="1200" spc="-40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1200" dirty="0">
                <a:latin typeface="Abadi" panose="020B0604020104020204" pitchFamily="34" charset="0"/>
                <a:cs typeface="Lucida Sans Unicode"/>
              </a:rPr>
              <a:t>porta</a:t>
            </a:r>
            <a:r>
              <a:rPr sz="1200" spc="-6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1200" dirty="0">
                <a:latin typeface="Abadi" panose="020B0604020104020204" pitchFamily="34" charset="0"/>
                <a:cs typeface="Lucida Sans Unicode"/>
              </a:rPr>
              <a:t>10</a:t>
            </a:r>
            <a:r>
              <a:rPr sz="1200" spc="-30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1200" dirty="0">
                <a:latin typeface="Abadi" panose="020B0604020104020204" pitchFamily="34" charset="0"/>
                <a:cs typeface="Lucida Sans Unicode"/>
              </a:rPr>
              <a:t>como</a:t>
            </a:r>
            <a:r>
              <a:rPr sz="1200" spc="-2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1200" spc="-10" dirty="0">
                <a:latin typeface="Abadi" panose="020B0604020104020204" pitchFamily="34" charset="0"/>
                <a:cs typeface="Lucida Sans Unicode"/>
              </a:rPr>
              <a:t>entrada</a:t>
            </a:r>
            <a:r>
              <a:rPr sz="1200" spc="-80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1200" spc="-25" dirty="0">
                <a:latin typeface="Abadi" panose="020B0604020104020204" pitchFamily="34" charset="0"/>
                <a:cs typeface="Lucida Sans Unicode"/>
              </a:rPr>
              <a:t>de </a:t>
            </a:r>
            <a:r>
              <a:rPr sz="1200" dirty="0">
                <a:latin typeface="Abadi" panose="020B0604020104020204" pitchFamily="34" charset="0"/>
                <a:cs typeface="Lucida Sans Unicode"/>
              </a:rPr>
              <a:t>dados</a:t>
            </a:r>
            <a:r>
              <a:rPr sz="1200" spc="-7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1200" dirty="0">
                <a:latin typeface="Abadi" panose="020B0604020104020204" pitchFamily="34" charset="0"/>
                <a:cs typeface="Lucida Sans Unicode"/>
              </a:rPr>
              <a:t>e</a:t>
            </a:r>
            <a:r>
              <a:rPr sz="1200" spc="-5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1200" dirty="0">
                <a:latin typeface="Abadi" panose="020B0604020104020204" pitchFamily="34" charset="0"/>
                <a:cs typeface="Lucida Sans Unicode"/>
              </a:rPr>
              <a:t>ativa</a:t>
            </a:r>
            <a:r>
              <a:rPr sz="1200" spc="-1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1200" dirty="0">
                <a:latin typeface="Abadi" panose="020B0604020104020204" pitchFamily="34" charset="0"/>
                <a:cs typeface="Lucida Sans Unicode"/>
              </a:rPr>
              <a:t>o</a:t>
            </a:r>
            <a:r>
              <a:rPr sz="1200" spc="-2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1200" spc="-10" dirty="0">
                <a:latin typeface="Abadi" panose="020B0604020104020204" pitchFamily="34" charset="0"/>
                <a:cs typeface="Lucida Sans Unicode"/>
              </a:rPr>
              <a:t>resistor</a:t>
            </a:r>
            <a:r>
              <a:rPr sz="1200" spc="-8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1200" spc="-10" dirty="0">
                <a:latin typeface="Abadi" panose="020B0604020104020204" pitchFamily="34" charset="0"/>
                <a:cs typeface="Lucida Sans Unicode"/>
              </a:rPr>
              <a:t>pull-</a:t>
            </a:r>
            <a:r>
              <a:rPr sz="1200" spc="-25" dirty="0">
                <a:latin typeface="Abadi" panose="020B0604020104020204" pitchFamily="34" charset="0"/>
                <a:cs typeface="Lucida Sans Unicode"/>
              </a:rPr>
              <a:t>up.</a:t>
            </a:r>
            <a:endParaRPr sz="1200" dirty="0">
              <a:latin typeface="Abadi" panose="020B0604020104020204" pitchFamily="34" charset="0"/>
              <a:cs typeface="Lucida Sans Unicode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88564" y="4724400"/>
            <a:ext cx="1943100" cy="575945"/>
          </a:xfrm>
          <a:custGeom>
            <a:avLst/>
            <a:gdLst/>
            <a:ahLst/>
            <a:cxnLst/>
            <a:rect l="l" t="t" r="r" b="b"/>
            <a:pathLst>
              <a:path w="1943100" h="575945">
                <a:moveTo>
                  <a:pt x="1943100" y="0"/>
                </a:moveTo>
                <a:lnTo>
                  <a:pt x="1941449" y="76581"/>
                </a:lnTo>
                <a:lnTo>
                  <a:pt x="1936496" y="145287"/>
                </a:lnTo>
                <a:lnTo>
                  <a:pt x="1929002" y="203454"/>
                </a:lnTo>
                <a:lnTo>
                  <a:pt x="1919351" y="248538"/>
                </a:lnTo>
                <a:lnTo>
                  <a:pt x="1895094" y="287781"/>
                </a:lnTo>
                <a:lnTo>
                  <a:pt x="1019556" y="287781"/>
                </a:lnTo>
                <a:lnTo>
                  <a:pt x="1006728" y="298069"/>
                </a:lnTo>
                <a:lnTo>
                  <a:pt x="985647" y="372110"/>
                </a:lnTo>
                <a:lnTo>
                  <a:pt x="978153" y="430275"/>
                </a:lnTo>
                <a:lnTo>
                  <a:pt x="973201" y="498982"/>
                </a:lnTo>
                <a:lnTo>
                  <a:pt x="971550" y="575563"/>
                </a:lnTo>
                <a:lnTo>
                  <a:pt x="969899" y="498982"/>
                </a:lnTo>
                <a:lnTo>
                  <a:pt x="964946" y="430275"/>
                </a:lnTo>
                <a:lnTo>
                  <a:pt x="957452" y="372110"/>
                </a:lnTo>
                <a:lnTo>
                  <a:pt x="947801" y="327025"/>
                </a:lnTo>
                <a:lnTo>
                  <a:pt x="923544" y="287781"/>
                </a:lnTo>
                <a:lnTo>
                  <a:pt x="48006" y="287781"/>
                </a:lnTo>
                <a:lnTo>
                  <a:pt x="35179" y="277494"/>
                </a:lnTo>
                <a:lnTo>
                  <a:pt x="23749" y="248538"/>
                </a:lnTo>
                <a:lnTo>
                  <a:pt x="14097" y="203454"/>
                </a:lnTo>
                <a:lnTo>
                  <a:pt x="6604" y="145287"/>
                </a:lnTo>
                <a:lnTo>
                  <a:pt x="1650" y="76581"/>
                </a:lnTo>
                <a:lnTo>
                  <a:pt x="0" y="0"/>
                </a:lnTo>
              </a:path>
            </a:pathLst>
          </a:custGeom>
          <a:ln w="91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latin typeface="Abadi" panose="020B0604020104020204" pitchFamily="34" charset="0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1524" y="4856988"/>
            <a:ext cx="1200912" cy="922020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4149852" y="5157216"/>
            <a:ext cx="808990" cy="532130"/>
          </a:xfrm>
          <a:custGeom>
            <a:avLst/>
            <a:gdLst/>
            <a:ahLst/>
            <a:cxnLst/>
            <a:rect l="l" t="t" r="r" b="b"/>
            <a:pathLst>
              <a:path w="808989" h="532129">
                <a:moveTo>
                  <a:pt x="187325" y="229489"/>
                </a:moveTo>
                <a:lnTo>
                  <a:pt x="183769" y="217170"/>
                </a:lnTo>
                <a:lnTo>
                  <a:pt x="136144" y="124714"/>
                </a:lnTo>
                <a:lnTo>
                  <a:pt x="36449" y="61087"/>
                </a:lnTo>
                <a:lnTo>
                  <a:pt x="57023" y="28702"/>
                </a:lnTo>
                <a:lnTo>
                  <a:pt x="76073" y="28702"/>
                </a:lnTo>
                <a:lnTo>
                  <a:pt x="77470" y="26543"/>
                </a:lnTo>
                <a:lnTo>
                  <a:pt x="63881" y="17907"/>
                </a:lnTo>
                <a:lnTo>
                  <a:pt x="70739" y="7112"/>
                </a:lnTo>
                <a:lnTo>
                  <a:pt x="182372" y="7112"/>
                </a:lnTo>
                <a:lnTo>
                  <a:pt x="0" y="0"/>
                </a:lnTo>
                <a:lnTo>
                  <a:pt x="127000" y="246507"/>
                </a:lnTo>
                <a:lnTo>
                  <a:pt x="134874" y="256540"/>
                </a:lnTo>
                <a:lnTo>
                  <a:pt x="145669" y="262382"/>
                </a:lnTo>
                <a:lnTo>
                  <a:pt x="157861" y="263906"/>
                </a:lnTo>
                <a:lnTo>
                  <a:pt x="170053" y="260350"/>
                </a:lnTo>
                <a:lnTo>
                  <a:pt x="179959" y="252476"/>
                </a:lnTo>
                <a:lnTo>
                  <a:pt x="185801" y="241681"/>
                </a:lnTo>
                <a:lnTo>
                  <a:pt x="187325" y="229489"/>
                </a:lnTo>
                <a:close/>
              </a:path>
              <a:path w="808989" h="532129">
                <a:moveTo>
                  <a:pt x="795274" y="499135"/>
                </a:moveTo>
                <a:lnTo>
                  <a:pt x="119888" y="68834"/>
                </a:lnTo>
                <a:lnTo>
                  <a:pt x="107188" y="68338"/>
                </a:lnTo>
                <a:lnTo>
                  <a:pt x="136144" y="124714"/>
                </a:lnTo>
                <a:lnTo>
                  <a:pt x="774700" y="531558"/>
                </a:lnTo>
                <a:lnTo>
                  <a:pt x="795274" y="499135"/>
                </a:lnTo>
                <a:close/>
              </a:path>
              <a:path w="808989" h="532129">
                <a:moveTo>
                  <a:pt x="808990" y="477520"/>
                </a:moveTo>
                <a:lnTo>
                  <a:pt x="170561" y="70739"/>
                </a:lnTo>
                <a:lnTo>
                  <a:pt x="145288" y="69723"/>
                </a:lnTo>
                <a:lnTo>
                  <a:pt x="802132" y="488327"/>
                </a:lnTo>
                <a:lnTo>
                  <a:pt x="808990" y="477520"/>
                </a:lnTo>
                <a:close/>
              </a:path>
            </a:pathLst>
          </a:custGeom>
          <a:solidFill>
            <a:srgbClr val="39619D"/>
          </a:solidFill>
        </p:spPr>
        <p:txBody>
          <a:bodyPr wrap="square" lIns="0" tIns="0" rIns="0" bIns="0" rtlCol="0"/>
          <a:lstStyle/>
          <a:p>
            <a:endParaRPr dirty="0">
              <a:latin typeface="Abadi" panose="020B0604020104020204" pitchFamily="34" charset="0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86301" y="5164328"/>
            <a:ext cx="271145" cy="117602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2836" y="702563"/>
            <a:ext cx="6227064" cy="5425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4183" y="2409444"/>
            <a:ext cx="3819144" cy="397154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45363" y="1368590"/>
            <a:ext cx="7204633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8605" algn="l"/>
              </a:tabLst>
            </a:pPr>
            <a:r>
              <a:rPr sz="1600" spc="-50" dirty="0">
                <a:solidFill>
                  <a:srgbClr val="2CA0BD"/>
                </a:solidFill>
                <a:cs typeface="Cambria Math"/>
              </a:rPr>
              <a:t>⦁</a:t>
            </a:r>
            <a:r>
              <a:rPr sz="1600" dirty="0">
                <a:solidFill>
                  <a:srgbClr val="2CA0BD"/>
                </a:solidFill>
                <a:cs typeface="Cambria Math"/>
              </a:rPr>
              <a:t>	</a:t>
            </a:r>
            <a:r>
              <a:rPr dirty="0"/>
              <a:t>Ativando</a:t>
            </a:r>
            <a:r>
              <a:rPr spc="-30" dirty="0"/>
              <a:t> </a:t>
            </a:r>
            <a:r>
              <a:rPr dirty="0"/>
              <a:t>o</a:t>
            </a:r>
            <a:r>
              <a:rPr spc="-35" dirty="0"/>
              <a:t> </a:t>
            </a:r>
            <a:r>
              <a:rPr sz="2500" i="1" spc="170" dirty="0">
                <a:cs typeface="Arial"/>
              </a:rPr>
              <a:t>pull-</a:t>
            </a:r>
            <a:r>
              <a:rPr sz="2500" i="1" spc="90" dirty="0">
                <a:cs typeface="Arial"/>
              </a:rPr>
              <a:t>up</a:t>
            </a:r>
            <a:r>
              <a:rPr sz="2500" i="1" spc="225" dirty="0">
                <a:cs typeface="Arial"/>
              </a:rPr>
              <a:t> </a:t>
            </a:r>
            <a:r>
              <a:rPr dirty="0"/>
              <a:t>de</a:t>
            </a:r>
            <a:r>
              <a:rPr spc="-50" dirty="0"/>
              <a:t> </a:t>
            </a:r>
            <a:r>
              <a:rPr dirty="0"/>
              <a:t>uma</a:t>
            </a:r>
            <a:r>
              <a:rPr spc="-30" dirty="0"/>
              <a:t> </a:t>
            </a:r>
            <a:r>
              <a:rPr dirty="0"/>
              <a:t>porta</a:t>
            </a:r>
            <a:r>
              <a:rPr spc="-40" dirty="0"/>
              <a:t> </a:t>
            </a:r>
            <a:r>
              <a:rPr spc="-10" dirty="0"/>
              <a:t>digital</a:t>
            </a:r>
            <a:endParaRPr sz="2500" dirty="0"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8827" y="1852676"/>
            <a:ext cx="30194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lr>
                <a:srgbClr val="2CA0BD"/>
              </a:buClr>
              <a:buFont typeface="Verdana"/>
              <a:buChar char="◦"/>
              <a:tabLst>
                <a:tab pos="240665" algn="l"/>
              </a:tabLst>
            </a:pPr>
            <a:r>
              <a:rPr sz="2000" dirty="0">
                <a:latin typeface="Abadi" panose="020B0604020104020204" pitchFamily="34" charset="0"/>
                <a:cs typeface="Lucida Sans Unicode"/>
              </a:rPr>
              <a:t>Ligação</a:t>
            </a:r>
            <a:r>
              <a:rPr sz="2000" spc="-95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000" dirty="0">
                <a:latin typeface="Abadi" panose="020B0604020104020204" pitchFamily="34" charset="0"/>
                <a:cs typeface="Lucida Sans Unicode"/>
              </a:rPr>
              <a:t>na</a:t>
            </a:r>
            <a:r>
              <a:rPr sz="2000" spc="-70" dirty="0">
                <a:latin typeface="Abadi" panose="020B0604020104020204" pitchFamily="34" charset="0"/>
                <a:cs typeface="Lucida Sans Unicode"/>
              </a:rPr>
              <a:t> </a:t>
            </a:r>
            <a:r>
              <a:rPr sz="2000" spc="-10" dirty="0">
                <a:latin typeface="Abadi" panose="020B0604020104020204" pitchFamily="34" charset="0"/>
                <a:cs typeface="Lucida Sans Unicode"/>
              </a:rPr>
              <a:t>protoboard</a:t>
            </a:r>
            <a:endParaRPr sz="2000" dirty="0">
              <a:latin typeface="Abadi" panose="020B0604020104020204" pitchFamily="34" charset="0"/>
              <a:cs typeface="Lucida Sans Unicode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2836" y="702563"/>
            <a:ext cx="6227064" cy="5425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45363" y="1368590"/>
            <a:ext cx="756981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8605" algn="l"/>
              </a:tabLst>
            </a:pPr>
            <a:r>
              <a:rPr sz="1600" spc="-50" dirty="0">
                <a:solidFill>
                  <a:srgbClr val="2CA0BD"/>
                </a:solidFill>
                <a:cs typeface="Cambria Math"/>
              </a:rPr>
              <a:t>⦁</a:t>
            </a:r>
            <a:r>
              <a:rPr sz="1600" dirty="0">
                <a:solidFill>
                  <a:srgbClr val="2CA0BD"/>
                </a:solidFill>
                <a:cs typeface="Cambria Math"/>
              </a:rPr>
              <a:t>	</a:t>
            </a:r>
            <a:r>
              <a:rPr dirty="0"/>
              <a:t>Ativando</a:t>
            </a:r>
            <a:r>
              <a:rPr spc="-30" dirty="0"/>
              <a:t> </a:t>
            </a:r>
            <a:r>
              <a:rPr dirty="0"/>
              <a:t>o pull-up de uma porta</a:t>
            </a:r>
            <a:r>
              <a:rPr spc="-40" dirty="0"/>
              <a:t> </a:t>
            </a:r>
            <a:r>
              <a:rPr spc="-10" dirty="0"/>
              <a:t>digital</a:t>
            </a:r>
            <a:endParaRPr sz="2500" dirty="0"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400" y="2032563"/>
            <a:ext cx="14306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lr>
                <a:srgbClr val="2CA0BD"/>
              </a:buClr>
              <a:buFont typeface="Verdana"/>
              <a:buChar char="◦"/>
              <a:tabLst>
                <a:tab pos="240665" algn="l"/>
              </a:tabLst>
            </a:pPr>
            <a:r>
              <a:rPr sz="2000" spc="-10" dirty="0">
                <a:latin typeface="Abadi" panose="020B0604020104020204" pitchFamily="34" charset="0"/>
                <a:cs typeface="Lucida Sans Unicode"/>
              </a:rPr>
              <a:t>Programa</a:t>
            </a:r>
            <a:endParaRPr sz="2000" dirty="0">
              <a:latin typeface="Abadi" panose="020B0604020104020204" pitchFamily="34" charset="0"/>
              <a:cs typeface="Lucida Sans Unicode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836" y="702563"/>
            <a:ext cx="6227064" cy="54254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3EFB3A5-B56F-216D-8A9C-3C3284401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528" y="2590800"/>
            <a:ext cx="5806943" cy="39779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4C35EA-086D-C53A-A585-349950D69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856" y="156368"/>
            <a:ext cx="7886700" cy="1325563"/>
          </a:xfrm>
        </p:spPr>
        <p:txBody>
          <a:bodyPr/>
          <a:lstStyle/>
          <a:p>
            <a:r>
              <a:rPr lang="pt-BR" sz="3600" dirty="0"/>
              <a:t>Exercício</a:t>
            </a:r>
            <a:r>
              <a:rPr lang="pt-BR" altLang="pt-BR" sz="3600" b="1" dirty="0">
                <a:solidFill>
                  <a:srgbClr val="404040"/>
                </a:solidFill>
              </a:rPr>
              <a:t> </a:t>
            </a:r>
            <a:r>
              <a:rPr lang="pt-BR" altLang="pt-BR" sz="3600" dirty="0">
                <a:solidFill>
                  <a:srgbClr val="404040"/>
                </a:solidFill>
              </a:rPr>
              <a:t>1</a:t>
            </a:r>
            <a:endParaRPr lang="pt-BR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6FFCD14-14A6-34D4-072A-3D7185747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052" y="1111798"/>
            <a:ext cx="7829550" cy="169277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2300" dirty="0">
              <a:latin typeface="Abadi" panose="020B0604020104020204" pitchFamily="34" charset="0"/>
              <a:cs typeface="Lucida Sans Unicod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2300" dirty="0">
                <a:latin typeface="Abadi" panose="020B0604020104020204" pitchFamily="34" charset="0"/>
                <a:cs typeface="Lucida Sans Unicode"/>
              </a:rPr>
              <a:t>Neste desafio vamos explorar como realizar a leitura de um pino digital do </a:t>
            </a:r>
            <a:r>
              <a:rPr lang="pt-BR" altLang="pt-BR" sz="2300" dirty="0" err="1">
                <a:latin typeface="Abadi" panose="020B0604020104020204" pitchFamily="34" charset="0"/>
                <a:cs typeface="Lucida Sans Unicode"/>
              </a:rPr>
              <a:t>arduino</a:t>
            </a:r>
            <a:r>
              <a:rPr lang="pt-BR" altLang="pt-BR" sz="2300" dirty="0">
                <a:latin typeface="Abadi" panose="020B0604020104020204" pitchFamily="34" charset="0"/>
                <a:cs typeface="Lucida Sans Unicode"/>
              </a:rPr>
              <a:t>, para isso monte o circuito do abaixo e vamos explorar o seu funcionamento: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badi" panose="020B0604020104020204" pitchFamily="34" charset="0"/>
              </a:rPr>
              <a:t> 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F24425E-14F8-D1E2-96E5-8E7AFFFD2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971800"/>
            <a:ext cx="6029325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0754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665E0-C664-9816-A137-9C762D16D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7886700" cy="1325563"/>
          </a:xfrm>
        </p:spPr>
        <p:txBody>
          <a:bodyPr>
            <a:normAutofit/>
          </a:bodyPr>
          <a:lstStyle/>
          <a:p>
            <a:r>
              <a:rPr lang="pt-BR" sz="2400" b="1" dirty="0"/>
              <a:t>Use esse código de base:</a:t>
            </a:r>
            <a:endParaRPr lang="pt-BR" sz="8800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69F405-C1C4-35E0-493C-81F204628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90600"/>
            <a:ext cx="7886700" cy="4351338"/>
          </a:xfrm>
        </p:spPr>
        <p:txBody>
          <a:bodyPr numCol="2"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pt-BR" sz="1600" dirty="0"/>
              <a:t>// </a:t>
            </a:r>
            <a:r>
              <a:rPr lang="pt-BR" sz="1600" dirty="0" err="1"/>
              <a:t>const</a:t>
            </a:r>
            <a:r>
              <a:rPr lang="pt-BR" sz="1600" dirty="0"/>
              <a:t> é uma constante. logo o valor não muda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sz="1600" dirty="0" err="1"/>
              <a:t>const</a:t>
            </a:r>
            <a:r>
              <a:rPr lang="pt-BR" sz="1600" dirty="0"/>
              <a:t> </a:t>
            </a:r>
            <a:r>
              <a:rPr lang="pt-BR" sz="1600" dirty="0" err="1"/>
              <a:t>int</a:t>
            </a:r>
            <a:r>
              <a:rPr lang="pt-BR" sz="1600" dirty="0"/>
              <a:t> </a:t>
            </a:r>
            <a:r>
              <a:rPr lang="pt-BR" sz="1600" dirty="0" err="1"/>
              <a:t>buttonPin</a:t>
            </a:r>
            <a:r>
              <a:rPr lang="pt-BR" sz="1600" dirty="0"/>
              <a:t> = 2;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sz="1600" dirty="0" err="1"/>
              <a:t>const</a:t>
            </a:r>
            <a:r>
              <a:rPr lang="pt-BR" sz="1600" dirty="0"/>
              <a:t> </a:t>
            </a:r>
            <a:r>
              <a:rPr lang="pt-BR" sz="1600" dirty="0" err="1"/>
              <a:t>int</a:t>
            </a:r>
            <a:r>
              <a:rPr lang="pt-BR" sz="1600" dirty="0"/>
              <a:t> </a:t>
            </a:r>
            <a:r>
              <a:rPr lang="pt-BR" sz="1600" dirty="0" err="1"/>
              <a:t>ledPin</a:t>
            </a:r>
            <a:r>
              <a:rPr lang="pt-BR" sz="1600" dirty="0"/>
              <a:t> = 13;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sz="1600" dirty="0"/>
              <a:t>// cria uma variável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sz="1600" dirty="0" err="1"/>
              <a:t>int</a:t>
            </a:r>
            <a:r>
              <a:rPr lang="pt-BR" sz="1600" dirty="0"/>
              <a:t> </a:t>
            </a:r>
            <a:r>
              <a:rPr lang="pt-BR" sz="1600" dirty="0" err="1"/>
              <a:t>buttonState</a:t>
            </a:r>
            <a:r>
              <a:rPr lang="pt-BR" sz="1600" dirty="0"/>
              <a:t> = 0;</a:t>
            </a:r>
          </a:p>
          <a:p>
            <a:pPr marL="0" indent="0">
              <a:lnSpc>
                <a:spcPct val="120000"/>
              </a:lnSpc>
              <a:buNone/>
            </a:pPr>
            <a:endParaRPr lang="pt-BR" sz="1600" dirty="0"/>
          </a:p>
          <a:p>
            <a:pPr marL="0" indent="0">
              <a:lnSpc>
                <a:spcPct val="120000"/>
              </a:lnSpc>
              <a:buNone/>
            </a:pPr>
            <a:r>
              <a:rPr lang="pt-BR" sz="1600" dirty="0" err="1"/>
              <a:t>void</a:t>
            </a:r>
            <a:r>
              <a:rPr lang="pt-BR" sz="1600" dirty="0"/>
              <a:t> setup()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sz="1600" dirty="0"/>
              <a:t>    // configura botão no pino do </a:t>
            </a:r>
            <a:r>
              <a:rPr lang="pt-BR" sz="1600" dirty="0" err="1"/>
              <a:t>arduino</a:t>
            </a:r>
            <a:r>
              <a:rPr lang="pt-BR" sz="1600" dirty="0"/>
              <a:t> como entrada: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sz="1600" dirty="0"/>
              <a:t>    </a:t>
            </a:r>
            <a:r>
              <a:rPr lang="pt-BR" sz="1600" dirty="0" err="1"/>
              <a:t>pinMode</a:t>
            </a:r>
            <a:r>
              <a:rPr lang="pt-BR" sz="1600" dirty="0"/>
              <a:t>(</a:t>
            </a:r>
            <a:r>
              <a:rPr lang="pt-BR" sz="1600" dirty="0" err="1"/>
              <a:t>ledPin</a:t>
            </a:r>
            <a:r>
              <a:rPr lang="pt-BR" sz="1600" dirty="0"/>
              <a:t>, OUTPUT);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sz="1600" dirty="0"/>
              <a:t>    // configura botão no pino do </a:t>
            </a:r>
            <a:r>
              <a:rPr lang="pt-BR" sz="1600" dirty="0" err="1"/>
              <a:t>arduino</a:t>
            </a:r>
            <a:r>
              <a:rPr lang="pt-BR" sz="1600" dirty="0"/>
              <a:t> como entrada: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sz="1600" dirty="0"/>
              <a:t>    </a:t>
            </a:r>
            <a:r>
              <a:rPr lang="pt-BR" sz="1600" dirty="0" err="1"/>
              <a:t>pinMode</a:t>
            </a:r>
            <a:r>
              <a:rPr lang="pt-BR" sz="1600" dirty="0"/>
              <a:t>(</a:t>
            </a:r>
            <a:r>
              <a:rPr lang="pt-BR" sz="1600" dirty="0" err="1"/>
              <a:t>buttonPin</a:t>
            </a:r>
            <a:r>
              <a:rPr lang="pt-BR" sz="1600" dirty="0"/>
              <a:t>, INPUT_PULLUP);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sz="1600" dirty="0"/>
              <a:t>}</a:t>
            </a:r>
          </a:p>
          <a:p>
            <a:pPr marL="0" indent="0">
              <a:lnSpc>
                <a:spcPct val="120000"/>
              </a:lnSpc>
              <a:buNone/>
            </a:pPr>
            <a:endParaRPr lang="pt-BR" sz="1600" dirty="0"/>
          </a:p>
          <a:p>
            <a:pPr marL="0" indent="0">
              <a:lnSpc>
                <a:spcPct val="120000"/>
              </a:lnSpc>
              <a:buNone/>
            </a:pPr>
            <a:r>
              <a:rPr lang="pt-BR" sz="1600" dirty="0" err="1"/>
              <a:t>void</a:t>
            </a:r>
            <a:r>
              <a:rPr lang="pt-BR" sz="1600" dirty="0"/>
              <a:t> loop()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sz="1600" dirty="0"/>
              <a:t>    // Lê o estado do botão: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sz="1600" dirty="0"/>
              <a:t>    </a:t>
            </a:r>
            <a:r>
              <a:rPr lang="pt-BR" sz="1600" dirty="0" err="1"/>
              <a:t>buttonState</a:t>
            </a:r>
            <a:r>
              <a:rPr lang="pt-BR" sz="1600" dirty="0"/>
              <a:t> = </a:t>
            </a:r>
            <a:r>
              <a:rPr lang="pt-BR" sz="1600" dirty="0" err="1"/>
              <a:t>digitalRead</a:t>
            </a:r>
            <a:r>
              <a:rPr lang="pt-BR" sz="1600" dirty="0"/>
              <a:t>(</a:t>
            </a:r>
            <a:r>
              <a:rPr lang="pt-BR" sz="1600" dirty="0" err="1"/>
              <a:t>buttonPin</a:t>
            </a:r>
            <a:r>
              <a:rPr lang="pt-BR" sz="1600" dirty="0"/>
              <a:t>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sz="1600" dirty="0"/>
              <a:t>    // se o botão estiver em nível lógico alto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sz="1600" dirty="0"/>
              <a:t>    </a:t>
            </a:r>
            <a:r>
              <a:rPr lang="pt-BR" sz="1600" dirty="0" err="1"/>
              <a:t>if</a:t>
            </a:r>
            <a:r>
              <a:rPr lang="pt-BR" sz="1600" dirty="0"/>
              <a:t> (</a:t>
            </a:r>
            <a:r>
              <a:rPr lang="pt-BR" sz="1600" dirty="0" err="1"/>
              <a:t>buttonState</a:t>
            </a:r>
            <a:r>
              <a:rPr lang="pt-BR" sz="1600" dirty="0"/>
              <a:t> == LOW)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sz="1600" dirty="0"/>
              <a:t>        // liga o led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sz="1600" dirty="0"/>
              <a:t>        </a:t>
            </a:r>
            <a:r>
              <a:rPr lang="pt-BR" sz="1600" dirty="0" err="1"/>
              <a:t>digitalWrite</a:t>
            </a:r>
            <a:r>
              <a:rPr lang="pt-BR" sz="1600" dirty="0"/>
              <a:t>(</a:t>
            </a:r>
            <a:r>
              <a:rPr lang="pt-BR" sz="1600" dirty="0" err="1"/>
              <a:t>ledPin</a:t>
            </a:r>
            <a:r>
              <a:rPr lang="pt-BR" sz="1600" dirty="0"/>
              <a:t>, HIGH);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sz="1600" dirty="0"/>
              <a:t>    } </a:t>
            </a:r>
            <a:r>
              <a:rPr lang="pt-BR" sz="1600" dirty="0" err="1"/>
              <a:t>else</a:t>
            </a:r>
            <a:r>
              <a:rPr lang="pt-BR" sz="1600" dirty="0"/>
              <a:t>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sz="1600" dirty="0"/>
              <a:t>        // apaga o led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sz="1600" dirty="0"/>
              <a:t>        </a:t>
            </a:r>
            <a:r>
              <a:rPr lang="pt-BR" sz="1600" dirty="0" err="1"/>
              <a:t>digitalWrite</a:t>
            </a:r>
            <a:r>
              <a:rPr lang="pt-BR" sz="1600" dirty="0"/>
              <a:t>(</a:t>
            </a:r>
            <a:r>
              <a:rPr lang="pt-BR" sz="1600" dirty="0" err="1"/>
              <a:t>ledPin</a:t>
            </a:r>
            <a:r>
              <a:rPr lang="pt-BR" sz="1600" dirty="0"/>
              <a:t>, LOW);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sz="1600" dirty="0"/>
              <a:t>        delay(1000);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sz="1600" dirty="0"/>
              <a:t>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sz="1600" dirty="0"/>
              <a:t>}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105082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7D031C-4A80-631F-AD6D-307D5FF00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Rode o código fornecido de base. Observe, entenda e anote o seu funcionamento;</a:t>
            </a:r>
          </a:p>
          <a:p>
            <a:endParaRPr lang="pt-BR" dirty="0"/>
          </a:p>
          <a:p>
            <a:r>
              <a:rPr lang="pt-BR" dirty="0"/>
              <a:t>O que acontece quando pressiona e solta o botão?</a:t>
            </a:r>
          </a:p>
          <a:p>
            <a:endParaRPr lang="pt-BR" dirty="0"/>
          </a:p>
          <a:p>
            <a:r>
              <a:rPr lang="pt-BR" dirty="0"/>
              <a:t> O que acontece quando pressiona e segura o botão?</a:t>
            </a:r>
          </a:p>
        </p:txBody>
      </p:sp>
    </p:spTree>
    <p:extLst>
      <p:ext uri="{BB962C8B-B14F-4D97-AF65-F5344CB8AC3E}">
        <p14:creationId xmlns:p14="http://schemas.microsoft.com/office/powerpoint/2010/main" val="2701009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0F1D62-A65F-107A-B4A9-426652C27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b="1" dirty="0" err="1">
                <a:latin typeface="Abadi" panose="020B0604020104020204" pitchFamily="34" charset="0"/>
              </a:rPr>
              <a:t>analogRead</a:t>
            </a:r>
            <a:r>
              <a:rPr lang="pt-BR" sz="3600" b="1" dirty="0">
                <a:latin typeface="Abadi" panose="020B0604020104020204" pitchFamily="34" charset="0"/>
              </a:rPr>
              <a:t> ( 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7B6B7B-1515-50C4-B34B-2A7825D79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47800"/>
            <a:ext cx="7886700" cy="472916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pt-BR" sz="2400" dirty="0">
                <a:latin typeface="Abadi" panose="020B0604020104020204" pitchFamily="34" charset="0"/>
              </a:rPr>
              <a:t>Vamos conhecer e utilizar as funções do </a:t>
            </a:r>
            <a:r>
              <a:rPr lang="pt-BR" sz="2400" b="1" dirty="0" err="1">
                <a:solidFill>
                  <a:srgbClr val="C00000"/>
                </a:solidFill>
                <a:latin typeface="Abadi" panose="020B0604020104020204" pitchFamily="34" charset="0"/>
              </a:rPr>
              <a:t>arduino</a:t>
            </a:r>
            <a:r>
              <a:rPr lang="pt-BR" sz="2400" b="1" dirty="0">
                <a:solidFill>
                  <a:srgbClr val="C00000"/>
                </a:solidFill>
                <a:latin typeface="Abadi" panose="020B0604020104020204" pitchFamily="34" charset="0"/>
              </a:rPr>
              <a:t> </a:t>
            </a:r>
            <a:r>
              <a:rPr lang="pt-BR" sz="2400" b="1" dirty="0" err="1">
                <a:solidFill>
                  <a:srgbClr val="C00000"/>
                </a:solidFill>
                <a:latin typeface="Abadi" panose="020B0604020104020204" pitchFamily="34" charset="0"/>
              </a:rPr>
              <a:t>analogRead</a:t>
            </a:r>
            <a:r>
              <a:rPr lang="pt-BR" sz="2400" b="1" dirty="0">
                <a:solidFill>
                  <a:srgbClr val="C00000"/>
                </a:solidFill>
                <a:latin typeface="Abadi" panose="020B0604020104020204" pitchFamily="34" charset="0"/>
              </a:rPr>
              <a:t>() </a:t>
            </a:r>
            <a:r>
              <a:rPr lang="pt-BR" sz="2400" dirty="0">
                <a:latin typeface="Abadi" panose="020B0604020104020204" pitchFamily="34" charset="0"/>
              </a:rPr>
              <a:t>e </a:t>
            </a:r>
            <a:r>
              <a:rPr lang="pt-BR" sz="2400" b="1" dirty="0" err="1">
                <a:solidFill>
                  <a:srgbClr val="C00000"/>
                </a:solidFill>
                <a:latin typeface="Abadi" panose="020B0604020104020204" pitchFamily="34" charset="0"/>
              </a:rPr>
              <a:t>analogWrite</a:t>
            </a:r>
            <a:r>
              <a:rPr lang="pt-BR" sz="2400" b="1" dirty="0">
                <a:solidFill>
                  <a:srgbClr val="C00000"/>
                </a:solidFill>
                <a:latin typeface="Abadi" panose="020B0604020104020204" pitchFamily="34" charset="0"/>
              </a:rPr>
              <a:t>()</a:t>
            </a:r>
            <a:r>
              <a:rPr lang="pt-BR" sz="2400" b="1" dirty="0">
                <a:latin typeface="Abadi" panose="020B0604020104020204" pitchFamily="34" charset="0"/>
              </a:rPr>
              <a:t>.</a:t>
            </a:r>
          </a:p>
          <a:p>
            <a:pPr algn="just"/>
            <a:endParaRPr lang="pt-BR" sz="2400" dirty="0">
              <a:latin typeface="Abadi" panose="020B0604020104020204" pitchFamily="34" charset="0"/>
            </a:endParaRPr>
          </a:p>
          <a:p>
            <a:pPr algn="just"/>
            <a:r>
              <a:rPr lang="pt-BR" sz="2400" b="1" dirty="0" err="1">
                <a:latin typeface="Abadi" panose="020B0604020104020204" pitchFamily="34" charset="0"/>
              </a:rPr>
              <a:t>analogRead</a:t>
            </a:r>
            <a:r>
              <a:rPr lang="pt-BR" sz="2400" b="1" dirty="0">
                <a:latin typeface="Abadi" panose="020B0604020104020204" pitchFamily="34" charset="0"/>
              </a:rPr>
              <a:t>:</a:t>
            </a:r>
            <a:r>
              <a:rPr lang="pt-BR" sz="2400" dirty="0">
                <a:latin typeface="Abadi" panose="020B0604020104020204" pitchFamily="34" charset="0"/>
              </a:rPr>
              <a:t> A função </a:t>
            </a:r>
            <a:r>
              <a:rPr lang="pt-BR" sz="2400" dirty="0" err="1">
                <a:latin typeface="Abadi" panose="020B0604020104020204" pitchFamily="34" charset="0"/>
              </a:rPr>
              <a:t>analogRead</a:t>
            </a:r>
            <a:r>
              <a:rPr lang="pt-BR" sz="2400" dirty="0">
                <a:latin typeface="Abadi" panose="020B0604020104020204" pitchFamily="34" charset="0"/>
              </a:rPr>
              <a:t> é usada para ler valores de sinais analógicos através de pinos analógicos no Arduino. </a:t>
            </a:r>
          </a:p>
          <a:p>
            <a:pPr algn="just"/>
            <a:endParaRPr lang="pt-BR" sz="800" dirty="0">
              <a:latin typeface="Abadi" panose="020B0604020104020204" pitchFamily="34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Abadi" panose="020B0604020104020204" pitchFamily="34" charset="0"/>
              </a:rPr>
              <a:t>Ela converte a tensão analógica presente no pino em um valor digital que pode variar de 0 a 1023, correspondendo a uma faixa de 0 a 5 volts (no Arduino Uno e outros modelos semelhantes).</a:t>
            </a:r>
          </a:p>
          <a:p>
            <a:pPr algn="just"/>
            <a:endParaRPr lang="pt-BR" sz="800" dirty="0">
              <a:latin typeface="Abadi" panose="020B0604020104020204" pitchFamily="34" charset="0"/>
            </a:endParaRPr>
          </a:p>
          <a:p>
            <a:pPr algn="just"/>
            <a:r>
              <a:rPr lang="pt-BR" sz="2400" dirty="0" err="1">
                <a:latin typeface="Abadi" panose="020B0604020104020204" pitchFamily="34" charset="0"/>
              </a:rPr>
              <a:t>int</a:t>
            </a:r>
            <a:r>
              <a:rPr lang="pt-BR" sz="2400" dirty="0">
                <a:latin typeface="Abadi" panose="020B0604020104020204" pitchFamily="34" charset="0"/>
              </a:rPr>
              <a:t> </a:t>
            </a:r>
            <a:r>
              <a:rPr lang="pt-BR" sz="2400" dirty="0" err="1">
                <a:latin typeface="Abadi" panose="020B0604020104020204" pitchFamily="34" charset="0"/>
              </a:rPr>
              <a:t>analogValue</a:t>
            </a:r>
            <a:r>
              <a:rPr lang="pt-BR" sz="2400" dirty="0">
                <a:latin typeface="Abadi" panose="020B0604020104020204" pitchFamily="34" charset="0"/>
              </a:rPr>
              <a:t> = </a:t>
            </a:r>
            <a:r>
              <a:rPr lang="pt-BR" sz="2400" dirty="0" err="1">
                <a:latin typeface="Abadi" panose="020B0604020104020204" pitchFamily="34" charset="0"/>
              </a:rPr>
              <a:t>analogRead</a:t>
            </a:r>
            <a:r>
              <a:rPr lang="pt-BR" sz="2400" dirty="0">
                <a:latin typeface="Abadi" panose="020B0604020104020204" pitchFamily="34" charset="0"/>
              </a:rPr>
              <a:t>(A0); // Lê o valor analógico do pino A0</a:t>
            </a:r>
          </a:p>
          <a:p>
            <a:pPr algn="just"/>
            <a:endParaRPr lang="pt-BR" sz="24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7331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63D838-E278-468F-818C-1693EFAE7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Potenciômetro </a:t>
            </a:r>
          </a:p>
        </p:txBody>
      </p:sp>
      <p:pic>
        <p:nvPicPr>
          <p:cNvPr id="2050" name="Picture 2" descr="Potenciômetro digital. Características e aplicações!">
            <a:extLst>
              <a:ext uri="{FF2B5EF4-FFF2-40B4-BE49-F238E27FC236}">
                <a16:creationId xmlns:a16="http://schemas.microsoft.com/office/drawing/2014/main" id="{7CBC6ED2-AC50-427D-8CC1-6BB031793E9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11" r="19412" b="15467"/>
          <a:stretch/>
        </p:blipFill>
        <p:spPr bwMode="auto">
          <a:xfrm>
            <a:off x="838200" y="2057400"/>
            <a:ext cx="7127977" cy="322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697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hlinkClick r:id="rId2"/>
            <a:extLst>
              <a:ext uri="{FF2B5EF4-FFF2-40B4-BE49-F238E27FC236}">
                <a16:creationId xmlns:a16="http://schemas.microsoft.com/office/drawing/2014/main" id="{227DFBBE-BA54-D8A3-CABA-2A12A0A581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2600" y="1466087"/>
            <a:ext cx="8178799" cy="392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3485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FDA7F-387C-1B0E-DFE6-1009E3015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5C5ED5-953E-DD31-7911-F4DC3847F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b="1" dirty="0" err="1">
                <a:latin typeface="Abadi" panose="020B0604020104020204" pitchFamily="34" charset="0"/>
              </a:rPr>
              <a:t>analogWrite</a:t>
            </a:r>
            <a:r>
              <a:rPr lang="pt-BR" sz="3200" b="1" dirty="0">
                <a:latin typeface="Abadi" panose="020B0604020104020204" pitchFamily="34" charset="0"/>
              </a:rPr>
              <a:t> ( 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550970-CDD1-1CB7-F6B6-44BEB5FFF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b="1" dirty="0" err="1">
                <a:latin typeface="Abadi" panose="020B0604020104020204" pitchFamily="34" charset="0"/>
              </a:rPr>
              <a:t>analogWrite</a:t>
            </a:r>
            <a:r>
              <a:rPr lang="pt-BR" sz="2400" dirty="0">
                <a:latin typeface="Abadi" panose="020B0604020104020204" pitchFamily="34" charset="0"/>
              </a:rPr>
              <a:t>: A função </a:t>
            </a:r>
            <a:r>
              <a:rPr lang="pt-BR" sz="2400" dirty="0" err="1">
                <a:latin typeface="Abadi" panose="020B0604020104020204" pitchFamily="34" charset="0"/>
              </a:rPr>
              <a:t>analogWrite</a:t>
            </a:r>
            <a:r>
              <a:rPr lang="pt-BR" sz="2400" dirty="0">
                <a:latin typeface="Abadi" panose="020B0604020104020204" pitchFamily="34" charset="0"/>
              </a:rPr>
              <a:t> é usada para gerar uma saída PWM (modulação por largura de pulso) em um pino digital. </a:t>
            </a:r>
          </a:p>
          <a:p>
            <a:endParaRPr lang="pt-BR" sz="800" dirty="0">
              <a:latin typeface="Abadi" panose="020B0604020104020204" pitchFamily="34" charset="0"/>
            </a:endParaRPr>
          </a:p>
          <a:p>
            <a:r>
              <a:rPr lang="pt-BR" sz="2400" dirty="0">
                <a:latin typeface="Abadi" panose="020B0604020104020204" pitchFamily="34" charset="0"/>
              </a:rPr>
              <a:t>Embora seja chamada de "</a:t>
            </a:r>
            <a:r>
              <a:rPr lang="pt-BR" sz="2400" dirty="0" err="1">
                <a:latin typeface="Abadi" panose="020B0604020104020204" pitchFamily="34" charset="0"/>
              </a:rPr>
              <a:t>analogWrite</a:t>
            </a:r>
            <a:r>
              <a:rPr lang="pt-BR" sz="2400" dirty="0">
                <a:latin typeface="Abadi" panose="020B0604020104020204" pitchFamily="34" charset="0"/>
              </a:rPr>
              <a:t>", na verdade ela gera um sinal digital pulsante com diferentes larguras de pulso, simulando uma saída analógica. </a:t>
            </a:r>
          </a:p>
          <a:p>
            <a:endParaRPr lang="pt-BR" sz="800" dirty="0">
              <a:latin typeface="Abadi" panose="020B0604020104020204" pitchFamily="34" charset="0"/>
            </a:endParaRPr>
          </a:p>
          <a:p>
            <a:r>
              <a:rPr lang="pt-BR" sz="2400" dirty="0">
                <a:latin typeface="Abadi" panose="020B0604020104020204" pitchFamily="34" charset="0"/>
              </a:rPr>
              <a:t>Ela é frequentemente usada para controlar a intensidade luminosa de LEDs ou a velocidade de motores.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162100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DFEA38-5138-89CD-6A8A-8E9A62F87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PWM Arduino</a:t>
            </a:r>
          </a:p>
        </p:txBody>
      </p:sp>
      <p:pic>
        <p:nvPicPr>
          <p:cNvPr id="1026" name="Picture 2" descr="Saídas PWM | Franzininho">
            <a:extLst>
              <a:ext uri="{FF2B5EF4-FFF2-40B4-BE49-F238E27FC236}">
                <a16:creationId xmlns:a16="http://schemas.microsoft.com/office/drawing/2014/main" id="{89BE000B-64F6-10CD-778C-65396ED65F9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600200"/>
            <a:ext cx="3810000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9658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C85AF-A71A-5ACF-9B8C-5199167F3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7D652E-FC04-F75A-0D9D-8C8B822D8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b="1" dirty="0" err="1">
                <a:latin typeface="Abadi" panose="020B0604020104020204" pitchFamily="34" charset="0"/>
              </a:rPr>
              <a:t>analogWrite</a:t>
            </a:r>
            <a:r>
              <a:rPr lang="pt-BR" sz="3600" b="1" dirty="0">
                <a:latin typeface="Abadi" panose="020B0604020104020204" pitchFamily="34" charset="0"/>
              </a:rPr>
              <a:t> ( )</a:t>
            </a:r>
            <a:endParaRPr lang="pt-BR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7BE6DB-EE25-6243-1484-819593CCB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/>
          </a:bodyPr>
          <a:lstStyle/>
          <a:p>
            <a:r>
              <a:rPr lang="pt-BR" sz="2400" dirty="0">
                <a:latin typeface="Abadi" panose="020B0604020104020204" pitchFamily="34" charset="0"/>
              </a:rPr>
              <a:t>Importante destacar que a função </a:t>
            </a:r>
            <a:r>
              <a:rPr lang="pt-BR" sz="2400" dirty="0" err="1">
                <a:latin typeface="Abadi" panose="020B0604020104020204" pitchFamily="34" charset="0"/>
              </a:rPr>
              <a:t>analogWrite</a:t>
            </a:r>
            <a:r>
              <a:rPr lang="pt-BR" sz="2400" dirty="0">
                <a:latin typeface="Abadi" panose="020B0604020104020204" pitchFamily="34" charset="0"/>
              </a:rPr>
              <a:t> funciona apenas em pinos específicos do Arduino que suportam PWM, geralmente marcados com o símbolo "~".</a:t>
            </a:r>
          </a:p>
          <a:p>
            <a:endParaRPr lang="pt-BR" sz="2400" dirty="0">
              <a:latin typeface="Abadi" panose="020B0604020104020204" pitchFamily="34" charset="0"/>
            </a:endParaRPr>
          </a:p>
          <a:p>
            <a:r>
              <a:rPr lang="pt-BR" sz="2400" dirty="0" err="1">
                <a:latin typeface="Abadi" panose="020B0604020104020204" pitchFamily="34" charset="0"/>
              </a:rPr>
              <a:t>int</a:t>
            </a:r>
            <a:r>
              <a:rPr lang="pt-BR" sz="2400" dirty="0">
                <a:latin typeface="Abadi" panose="020B0604020104020204" pitchFamily="34" charset="0"/>
              </a:rPr>
              <a:t> </a:t>
            </a:r>
            <a:r>
              <a:rPr lang="pt-BR" sz="2400" dirty="0" err="1">
                <a:latin typeface="Abadi" panose="020B0604020104020204" pitchFamily="34" charset="0"/>
              </a:rPr>
              <a:t>pwmValue</a:t>
            </a:r>
            <a:r>
              <a:rPr lang="pt-BR" sz="2400" dirty="0">
                <a:latin typeface="Abadi" panose="020B0604020104020204" pitchFamily="34" charset="0"/>
              </a:rPr>
              <a:t> = 128;</a:t>
            </a:r>
          </a:p>
          <a:p>
            <a:r>
              <a:rPr lang="pt-BR" sz="2400" dirty="0" err="1">
                <a:latin typeface="Abadi" panose="020B0604020104020204" pitchFamily="34" charset="0"/>
              </a:rPr>
              <a:t>analogWrite</a:t>
            </a:r>
            <a:r>
              <a:rPr lang="pt-BR" sz="2400" dirty="0">
                <a:latin typeface="Abadi" panose="020B0604020104020204" pitchFamily="34" charset="0"/>
              </a:rPr>
              <a:t>(9, </a:t>
            </a:r>
            <a:r>
              <a:rPr lang="pt-BR" sz="2400" dirty="0" err="1">
                <a:latin typeface="Abadi" panose="020B0604020104020204" pitchFamily="34" charset="0"/>
              </a:rPr>
              <a:t>pwmValue</a:t>
            </a:r>
            <a:r>
              <a:rPr lang="pt-BR" sz="2400" dirty="0">
                <a:latin typeface="Abadi" panose="020B0604020104020204" pitchFamily="34" charset="0"/>
              </a:rPr>
              <a:t>); // Gera um sinal PWM no pino 9 com ciclo de trabalho de 50%</a:t>
            </a:r>
          </a:p>
          <a:p>
            <a:endParaRPr lang="pt-BR" sz="2400" dirty="0">
              <a:latin typeface="Abadi" panose="020B0604020104020204" pitchFamily="34" charset="0"/>
            </a:endParaRPr>
          </a:p>
          <a:p>
            <a:r>
              <a:rPr lang="pt-BR" sz="2400" dirty="0">
                <a:latin typeface="Abadi" panose="020B0604020104020204" pitchFamily="34" charset="0"/>
              </a:rPr>
              <a:t>Utilize a função </a:t>
            </a:r>
            <a:r>
              <a:rPr lang="pt-BR" sz="2400" dirty="0" err="1">
                <a:latin typeface="Abadi" panose="020B0604020104020204" pitchFamily="34" charset="0"/>
              </a:rPr>
              <a:t>map</a:t>
            </a:r>
            <a:r>
              <a:rPr lang="pt-BR" sz="2400" dirty="0">
                <a:latin typeface="Abadi" panose="020B0604020104020204" pitchFamily="34" charset="0"/>
              </a:rPr>
              <a:t>() do </a:t>
            </a:r>
            <a:r>
              <a:rPr lang="pt-BR" sz="2400" dirty="0" err="1">
                <a:latin typeface="Abadi" panose="020B0604020104020204" pitchFamily="34" charset="0"/>
              </a:rPr>
              <a:t>arduino</a:t>
            </a:r>
            <a:r>
              <a:rPr lang="pt-BR" sz="2400" dirty="0">
                <a:latin typeface="Abadi" panose="020B0604020104020204" pitchFamily="34" charset="0"/>
              </a:rPr>
              <a:t> para fazer a conversão de valores. </a:t>
            </a:r>
          </a:p>
        </p:txBody>
      </p:sp>
    </p:spTree>
    <p:extLst>
      <p:ext uri="{BB962C8B-B14F-4D97-AF65-F5344CB8AC3E}">
        <p14:creationId xmlns:p14="http://schemas.microsoft.com/office/powerpoint/2010/main" val="1411986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DD3B20-D427-CA51-9A26-B35A86086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map</a:t>
            </a:r>
            <a:r>
              <a:rPr lang="pt-BR" dirty="0"/>
              <a:t> ()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5C708D-09DE-A091-D0D5-812AC1F74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A função </a:t>
            </a:r>
            <a:r>
              <a:rPr lang="pt-BR" sz="2400" dirty="0" err="1"/>
              <a:t>map</a:t>
            </a:r>
            <a:r>
              <a:rPr lang="pt-BR" sz="2400" dirty="0"/>
              <a:t>() no Arduino é usada para recalcular valores dentro de um intervalo diferente. Isso é útil, por exemplo, para converter leituras de sensores para uma faixa de valores desejada.</a:t>
            </a:r>
          </a:p>
          <a:p>
            <a:endParaRPr lang="pt-BR" sz="2400" dirty="0"/>
          </a:p>
          <a:p>
            <a:pPr marL="0" indent="0">
              <a:buNone/>
            </a:pPr>
            <a:r>
              <a:rPr lang="pt-BR" sz="2400" dirty="0">
                <a:solidFill>
                  <a:schemeClr val="accent1"/>
                </a:solidFill>
              </a:rPr>
              <a:t>// Converte a leitura para a faixa do PWM (0 a 255)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accent1"/>
                </a:solidFill>
              </a:rPr>
              <a:t>    </a:t>
            </a:r>
            <a:r>
              <a:rPr lang="pt-BR" sz="2400" dirty="0" err="1">
                <a:solidFill>
                  <a:schemeClr val="accent1"/>
                </a:solidFill>
              </a:rPr>
              <a:t>int</a:t>
            </a:r>
            <a:r>
              <a:rPr lang="pt-BR" sz="2400" dirty="0">
                <a:solidFill>
                  <a:schemeClr val="accent1"/>
                </a:solidFill>
              </a:rPr>
              <a:t> brilho = </a:t>
            </a:r>
            <a:r>
              <a:rPr lang="pt-BR" sz="2400" dirty="0" err="1">
                <a:solidFill>
                  <a:schemeClr val="accent1"/>
                </a:solidFill>
              </a:rPr>
              <a:t>map</a:t>
            </a:r>
            <a:r>
              <a:rPr lang="pt-BR" sz="2400" dirty="0">
                <a:solidFill>
                  <a:schemeClr val="accent1"/>
                </a:solidFill>
              </a:rPr>
              <a:t>(leitura, 0, 1023, 0, 255);</a:t>
            </a:r>
          </a:p>
        </p:txBody>
      </p:sp>
    </p:spTree>
    <p:extLst>
      <p:ext uri="{BB962C8B-B14F-4D97-AF65-F5344CB8AC3E}">
        <p14:creationId xmlns:p14="http://schemas.microsoft.com/office/powerpoint/2010/main" val="18095712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2044A7-6405-ABBD-0DB9-91FFA1F3B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8A0571-A80D-BCEE-64BC-8DD01F04B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hlinkClick r:id="rId2"/>
            <a:extLst>
              <a:ext uri="{FF2B5EF4-FFF2-40B4-BE49-F238E27FC236}">
                <a16:creationId xmlns:a16="http://schemas.microsoft.com/office/drawing/2014/main" id="{1AC026EB-0164-3B73-FDE6-27D19E798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50" y="1020871"/>
            <a:ext cx="8077900" cy="481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557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113693-2324-2F5F-A70D-CB24C15E9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"/>
            <a:ext cx="7886700" cy="1325563"/>
          </a:xfrm>
        </p:spPr>
        <p:txBody>
          <a:bodyPr/>
          <a:lstStyle/>
          <a:p>
            <a:r>
              <a:rPr lang="pt-BR" dirty="0"/>
              <a:t>Exercícios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EABF4B-A9E7-B145-2B60-AE25537BE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19200"/>
            <a:ext cx="7886700" cy="495776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pt-BR" dirty="0"/>
              <a:t>Utilizando um laço for(), faça dois LEDs piscarem simultaneamente 6 vezes, na inicialização. </a:t>
            </a:r>
          </a:p>
          <a:p>
            <a:pPr marL="0" indent="0" algn="just">
              <a:buNone/>
            </a:pPr>
            <a:r>
              <a:rPr lang="pt-BR" dirty="0"/>
              <a:t>As questões abaixo devem funcionar em uma mesma rotina. </a:t>
            </a:r>
          </a:p>
          <a:p>
            <a:pPr algn="just"/>
            <a:endParaRPr lang="pt-BR" dirty="0"/>
          </a:p>
          <a:p>
            <a:pPr marL="0" indent="0" algn="just">
              <a:buNone/>
            </a:pPr>
            <a:r>
              <a:rPr lang="pt-BR" dirty="0"/>
              <a:t>Se nenhum botão estiver pressionado, os LEDs devem permanecer apagados. </a:t>
            </a:r>
          </a:p>
          <a:p>
            <a:pPr marL="0" indent="0" algn="just">
              <a:buNone/>
            </a:pPr>
            <a:endParaRPr lang="pt-BR" dirty="0"/>
          </a:p>
          <a:p>
            <a:pPr marL="457200" indent="-457200" algn="just">
              <a:buFont typeface="+mj-lt"/>
              <a:buAutoNum type="alphaLcParenR"/>
            </a:pPr>
            <a:r>
              <a:rPr lang="pt-BR" dirty="0"/>
              <a:t>Enquanto o botão da direita permanecer pressionado, dois LEDs devem piscar simultaneamente. </a:t>
            </a:r>
          </a:p>
          <a:p>
            <a:pPr marL="457200" indent="-457200" algn="just">
              <a:buFont typeface="+mj-lt"/>
              <a:buAutoNum type="alphaLcParenR"/>
            </a:pPr>
            <a:r>
              <a:rPr lang="pt-BR" dirty="0"/>
              <a:t>Enquanto o botão da esquerda permanecer pressionado, os outros dois LEDs devem piscar alternadamente. </a:t>
            </a:r>
          </a:p>
          <a:p>
            <a:pPr marL="457200" indent="-457200" algn="just">
              <a:buFont typeface="+mj-lt"/>
              <a:buAutoNum type="alphaLcParenR"/>
            </a:pPr>
            <a:r>
              <a:rPr lang="pt-BR" dirty="0"/>
              <a:t>Enquanto o botão central permanecer pressionado: LEDs externos acendem, LEDs internos apagam. Após 1 segundo, LEDs internos acendem, LEDs externos apagam. Ciclo se repete após 1 segundo.</a:t>
            </a:r>
          </a:p>
        </p:txBody>
      </p:sp>
    </p:spTree>
    <p:extLst>
      <p:ext uri="{BB962C8B-B14F-4D97-AF65-F5344CB8AC3E}">
        <p14:creationId xmlns:p14="http://schemas.microsoft.com/office/powerpoint/2010/main" val="4129493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FC2FDF-F7D2-2156-D7FC-9311E32CC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38200"/>
            <a:ext cx="7886700" cy="5338763"/>
          </a:xfrm>
        </p:spPr>
        <p:txBody>
          <a:bodyPr/>
          <a:lstStyle/>
          <a:p>
            <a:r>
              <a:rPr lang="pt-BR" sz="2400" dirty="0">
                <a:latin typeface="Abadi" panose="020B0604020104020204" pitchFamily="34" charset="0"/>
              </a:rPr>
              <a:t>Neste exercício vamos explorar novos recursos do </a:t>
            </a:r>
            <a:r>
              <a:rPr lang="pt-BR" sz="2400" dirty="0" err="1">
                <a:latin typeface="Abadi" panose="020B0604020104020204" pitchFamily="34" charset="0"/>
              </a:rPr>
              <a:t>arduino</a:t>
            </a:r>
            <a:r>
              <a:rPr lang="pt-BR" sz="2400" dirty="0">
                <a:latin typeface="Abadi" panose="020B0604020104020204" pitchFamily="34" charset="0"/>
              </a:rPr>
              <a:t>. Para isso implemente um código que faz a leitura do pino analógico A0 que altera a intensidade luminosa do LED.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6CCDDE1-93F8-5FC6-4DDB-8A86F7610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2514600"/>
            <a:ext cx="4495800" cy="334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5052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1062</TotalTime>
  <Words>1044</Words>
  <Application>Microsoft Office PowerPoint</Application>
  <PresentationFormat>Apresentação na tela (4:3)</PresentationFormat>
  <Paragraphs>115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0" baseType="lpstr">
      <vt:lpstr>Abadi</vt:lpstr>
      <vt:lpstr>Arial</vt:lpstr>
      <vt:lpstr>Cambria Math</vt:lpstr>
      <vt:lpstr>Trebuchet MS</vt:lpstr>
      <vt:lpstr>Verdana</vt:lpstr>
      <vt:lpstr>Tema do Office</vt:lpstr>
      <vt:lpstr>DISRUPTIVE ARCHITECTURES: IOT, IOB E GENERATIVE AI</vt:lpstr>
      <vt:lpstr>Exercícios </vt:lpstr>
      <vt:lpstr>⦁ Verificando o estado de um botão</vt:lpstr>
      <vt:lpstr>Apresentação do PowerPoint</vt:lpstr>
      <vt:lpstr>⦁ Leitura de um botão com resistor pull-down</vt:lpstr>
      <vt:lpstr>⦁ Leitura de um botão com resistor pull-down</vt:lpstr>
      <vt:lpstr>⦁ Leitura de um botão com resistor pull-up</vt:lpstr>
      <vt:lpstr>⦁ Leitura de um botão com resistor pull-up</vt:lpstr>
      <vt:lpstr>⦁ Nota</vt:lpstr>
      <vt:lpstr>⦁ Ativando o pull-up de uma porta digital</vt:lpstr>
      <vt:lpstr>⦁ Ativando o pull-up de uma porta digital</vt:lpstr>
      <vt:lpstr>Exercício 1</vt:lpstr>
      <vt:lpstr>Use esse código de base:</vt:lpstr>
      <vt:lpstr>Apresentação do PowerPoint</vt:lpstr>
      <vt:lpstr>analogRead ( )</vt:lpstr>
      <vt:lpstr>Potenciômetro </vt:lpstr>
      <vt:lpstr>Apresentação do PowerPoint</vt:lpstr>
      <vt:lpstr>analogWrite ( )</vt:lpstr>
      <vt:lpstr>PWM Arduino</vt:lpstr>
      <vt:lpstr>analogWrite ( )</vt:lpstr>
      <vt:lpstr>map ()</vt:lpstr>
      <vt:lpstr>Apresentação do PowerPoint</vt:lpstr>
      <vt:lpstr>Exercícios 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Susanne Andrade</dc:creator>
  <cp:lastModifiedBy>Renan Mendes</cp:lastModifiedBy>
  <cp:revision>32</cp:revision>
  <dcterms:created xsi:type="dcterms:W3CDTF">2025-02-17T19:00:45Z</dcterms:created>
  <dcterms:modified xsi:type="dcterms:W3CDTF">2025-03-11T21:19:20Z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2024-08-05T00:00:00Z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2025-02-17T00:00:00Z</vt:filetime>
  </property>
  <property fmtid="{D5CDD505-2E9C-101B-9397-08002B2CF9AE}" pid="5" name="Producer">
    <vt:lpwstr>Microsoft® PowerPoint® para Microsoft 365</vt:lpwstr>
  </property>
</Properties>
</file>